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</p:sldIdLst>
  <p:notesMasterIdLst>
    <p:notesMasterId r:id="rId22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notesMaster" Target="notesMasters/notesMaster1.xml"/><Relationship Id="rId23" Type="http://schemas.openxmlformats.org/officeDocument/2006/relationships/presProps" Target="presProps.xml"/><Relationship Id="rId24" Type="http://schemas.openxmlformats.org/officeDocument/2006/relationships/viewProps" Target="viewProps.xml"/><Relationship Id="rId25" Type="http://schemas.openxmlformats.org/officeDocument/2006/relationships/theme" Target="theme/theme1.xml"/><Relationship Id="rId2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image" Target="../media/image-3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image" Target="../media/image-4-3.png"/><Relationship Id="rId4" Type="http://schemas.openxmlformats.org/officeDocument/2006/relationships/image" Target="../media/image-4-4.png"/><Relationship Id="rId5" Type="http://schemas.openxmlformats.org/officeDocument/2006/relationships/image" Target="../media/image-4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image" Target="../media/image-5-3.png"/><Relationship Id="rId4" Type="http://schemas.openxmlformats.org/officeDocument/2006/relationships/image" Target="../media/image-5-4.png"/><Relationship Id="rId5" Type="http://schemas.openxmlformats.org/officeDocument/2006/relationships/image" Target="../media/image-5-5.png"/><Relationship Id="rId6" Type="http://schemas.openxmlformats.org/officeDocument/2006/relationships/image" Target="../media/image-5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png"/><Relationship Id="rId3" Type="http://schemas.openxmlformats.org/officeDocument/2006/relationships/image" Target="../media/image-7-3.png"/><Relationship Id="rId4" Type="http://schemas.openxmlformats.org/officeDocument/2006/relationships/image" Target="../media/image-7-4.png"/><Relationship Id="rId5" Type="http://schemas.openxmlformats.org/officeDocument/2006/relationships/image" Target="../media/image-7-5.png"/><Relationship Id="rId6" Type="http://schemas.openxmlformats.org/officeDocument/2006/relationships/image" Target="../media/image-7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2.png"/><Relationship Id="rId3" Type="http://schemas.openxmlformats.org/officeDocument/2006/relationships/image" Target="../media/image-8-3.png"/><Relationship Id="rId4" Type="http://schemas.openxmlformats.org/officeDocument/2006/relationships/image" Target="../media/image-8-4.png"/><Relationship Id="rId5" Type="http://schemas.openxmlformats.org/officeDocument/2006/relationships/image" Target="../media/image-8-5.png"/><Relationship Id="rId6" Type="http://schemas.openxmlformats.org/officeDocument/2006/relationships/image" Target="../media/image-8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image" Target="../media/image-10-2.png"/><Relationship Id="rId3" Type="http://schemas.openxmlformats.org/officeDocument/2006/relationships/image" Target="../media/image-10-3.png"/><Relationship Id="rId4" Type="http://schemas.openxmlformats.org/officeDocument/2006/relationships/image" Target="../media/image-10-4.png"/><Relationship Id="rId5" Type="http://schemas.openxmlformats.org/officeDocument/2006/relationships/image" Target="../media/image-10-5.png"/><Relationship Id="rId6" Type="http://schemas.openxmlformats.org/officeDocument/2006/relationships/image" Target="../media/image-10-6.png"/><Relationship Id="rId7" Type="http://schemas.openxmlformats.org/officeDocument/2006/relationships/image" Target="../media/image-10-7.png"/><Relationship Id="rId8" Type="http://schemas.openxmlformats.org/officeDocument/2006/relationships/image" Target="../media/image-10-8.png"/><Relationship Id="rId9" Type="http://schemas.openxmlformats.org/officeDocument/2006/relationships/slideLayout" Target="../slideLayouts/slideLayout1.xml"/><Relationship Id="rId10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image" Target="../media/image-11-2.png"/><Relationship Id="rId3" Type="http://schemas.openxmlformats.org/officeDocument/2006/relationships/image" Target="../media/image-11-3.png"/><Relationship Id="rId4" Type="http://schemas.openxmlformats.org/officeDocument/2006/relationships/image" Target="../media/image-11-4.png"/><Relationship Id="rId5" Type="http://schemas.openxmlformats.org/officeDocument/2006/relationships/image" Target="../media/image-11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image" Target="../media/image-12-2.png"/><Relationship Id="rId3" Type="http://schemas.openxmlformats.org/officeDocument/2006/relationships/image" Target="../media/image-12-3.png"/><Relationship Id="rId4" Type="http://schemas.openxmlformats.org/officeDocument/2006/relationships/image" Target="../media/image-12-4.png"/><Relationship Id="rId5" Type="http://schemas.openxmlformats.org/officeDocument/2006/relationships/image" Target="../media/image-12-5.png"/><Relationship Id="rId6" Type="http://schemas.openxmlformats.org/officeDocument/2006/relationships/image" Target="../media/image-12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5-1.png"/><Relationship Id="rId2" Type="http://schemas.openxmlformats.org/officeDocument/2006/relationships/image" Target="../media/image-15-2.png"/><Relationship Id="rId3" Type="http://schemas.openxmlformats.org/officeDocument/2006/relationships/image" Target="../media/image-15-3.png"/><Relationship Id="rId4" Type="http://schemas.openxmlformats.org/officeDocument/2006/relationships/image" Target="../media/image-15-4.png"/><Relationship Id="rId5" Type="http://schemas.openxmlformats.org/officeDocument/2006/relationships/image" Target="../media/image-15-5.png"/><Relationship Id="rId6" Type="http://schemas.openxmlformats.org/officeDocument/2006/relationships/image" Target="../media/image-15-6.png"/><Relationship Id="rId7" Type="http://schemas.openxmlformats.org/officeDocument/2006/relationships/image" Target="../media/image-15-7.png"/><Relationship Id="rId8" Type="http://schemas.openxmlformats.org/officeDocument/2006/relationships/image" Target="../media/image-15-8.png"/><Relationship Id="rId9" Type="http://schemas.openxmlformats.org/officeDocument/2006/relationships/slideLayout" Target="../slideLayouts/slideLayout1.xml"/><Relationship Id="rId10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8-1.png"/><Relationship Id="rId2" Type="http://schemas.openxmlformats.org/officeDocument/2006/relationships/image" Target="../media/image-18-2.png"/><Relationship Id="rId3" Type="http://schemas.openxmlformats.org/officeDocument/2006/relationships/image" Target="../media/image-18-3.png"/><Relationship Id="rId4" Type="http://schemas.openxmlformats.org/officeDocument/2006/relationships/image" Target="../media/image-18-4.png"/><Relationship Id="rId5" Type="http://schemas.openxmlformats.org/officeDocument/2006/relationships/image" Target="../media/image-18-5.png"/><Relationship Id="rId6" Type="http://schemas.openxmlformats.org/officeDocument/2006/relationships/image" Target="../media/image-18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9-1.png"/><Relationship Id="rId2" Type="http://schemas.openxmlformats.org/officeDocument/2006/relationships/image" Target="../media/image-19-2.png"/><Relationship Id="rId3" Type="http://schemas.openxmlformats.org/officeDocument/2006/relationships/image" Target="../media/image-19-3.png"/><Relationship Id="rId4" Type="http://schemas.openxmlformats.org/officeDocument/2006/relationships/image" Target="../media/image-19-4.png"/><Relationship Id="rId5" Type="http://schemas.openxmlformats.org/officeDocument/2006/relationships/image" Target="../media/image-19-5.png"/><Relationship Id="rId6" Type="http://schemas.openxmlformats.org/officeDocument/2006/relationships/image" Target="../media/image-19-6.png"/><Relationship Id="rId7" Type="http://schemas.openxmlformats.org/officeDocument/2006/relationships/image" Target="../media/image-19-7.png"/><Relationship Id="rId8" Type="http://schemas.openxmlformats.org/officeDocument/2006/relationships/image" Target="../media/image-19-8.png"/><Relationship Id="rId9" Type="http://schemas.openxmlformats.org/officeDocument/2006/relationships/image" Target="../media/image-19-9.png"/><Relationship Id="rId10" Type="http://schemas.openxmlformats.org/officeDocument/2006/relationships/image" Target="../media/image-19-10.png"/><Relationship Id="rId11" Type="http://schemas.openxmlformats.org/officeDocument/2006/relationships/image" Target="../media/image-19-11.png"/><Relationship Id="rId12" Type="http://schemas.openxmlformats.org/officeDocument/2006/relationships/image" Target="../media/image-19-12.png"/><Relationship Id="rId13" Type="http://schemas.openxmlformats.org/officeDocument/2006/relationships/image" Target="../media/image-19-13.png"/><Relationship Id="rId14" Type="http://schemas.openxmlformats.org/officeDocument/2006/relationships/slideLayout" Target="../slideLayouts/slideLayout1.xml"/><Relationship Id="rId15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A365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319795"/>
          </a:solidFill>
          <a:ln/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023360" y="457200"/>
            <a:ext cx="1097280" cy="109728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457200" y="1554480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800" b="1" spc="8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SAINT</a:t>
            </a:r>
            <a:endParaRPr lang="en-US" sz="4800" dirty="0"/>
          </a:p>
        </p:txBody>
      </p:sp>
      <p:sp>
        <p:nvSpPr>
          <p:cNvPr id="5" name="Text 2"/>
          <p:cNvSpPr/>
          <p:nvPr/>
        </p:nvSpPr>
        <p:spPr>
          <a:xfrm>
            <a:off x="457200" y="219456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i="1" dirty="0">
                <a:solidFill>
                  <a:srgbClr val="A0AE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Security Agent Integrated Network Tool</a:t>
            </a:r>
            <a:endParaRPr lang="en-US" sz="1600" dirty="0"/>
          </a:p>
        </p:txBody>
      </p:sp>
      <p:sp>
        <p:nvSpPr>
          <p:cNvPr id="6" name="Shape 3"/>
          <p:cNvSpPr/>
          <p:nvPr/>
        </p:nvSpPr>
        <p:spPr>
          <a:xfrm>
            <a:off x="3200400" y="2834640"/>
            <a:ext cx="2743200" cy="27432"/>
          </a:xfrm>
          <a:prstGeom prst="rect">
            <a:avLst/>
          </a:prstGeom>
          <a:solidFill>
            <a:srgbClr val="319795"/>
          </a:solidFill>
          <a:ln/>
        </p:spPr>
      </p:sp>
      <p:sp>
        <p:nvSpPr>
          <p:cNvPr id="7" name="Text 4"/>
          <p:cNvSpPr/>
          <p:nvPr/>
        </p:nvSpPr>
        <p:spPr>
          <a:xfrm>
            <a:off x="457200" y="3017520"/>
            <a:ext cx="82296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E2E8F0"/>
                </a:solidFill>
              </a:rPr>
              <a:t>ĐỒ ÁN TỐT NGHIỆP</a:t>
            </a:r>
            <a:endParaRPr lang="en-US" sz="1400" dirty="0"/>
          </a:p>
          <a:p>
            <a:pPr algn="ctr" indent="0" marL="0">
              <a:buNone/>
            </a:pPr>
            <a:endParaRPr lang="en-US" sz="1400" dirty="0"/>
          </a:p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</a:rPr>
              <a:t>Xây dựng hệ thống quản lý bảo mật mạng</a:t>
            </a:r>
            <a:endParaRPr lang="en-US" sz="1400" dirty="0"/>
          </a:p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</a:rPr>
              <a:t>phân tán cho môi trường giáo dục</a:t>
            </a:r>
            <a:endParaRPr lang="en-US" sz="1400" dirty="0"/>
          </a:p>
        </p:txBody>
      </p:sp>
      <p:sp>
        <p:nvSpPr>
          <p:cNvPr id="8" name="Text 5"/>
          <p:cNvSpPr/>
          <p:nvPr/>
        </p:nvSpPr>
        <p:spPr>
          <a:xfrm>
            <a:off x="457200" y="43891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A0AEC0"/>
                </a:solidFill>
              </a:rPr>
              <a:t>GVHD: [Tên giảng viên hướng dẫn]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A0AEC0"/>
                </a:solidFill>
              </a:rPr>
              <a:t>SVTH: [Họ và tên sinh viên]  —  MSSV: [Mã số]</a:t>
            </a:r>
            <a:endParaRPr lang="en-US" sz="1200" dirty="0"/>
          </a:p>
        </p:txBody>
      </p:sp>
      <p:sp>
        <p:nvSpPr>
          <p:cNvPr id="9" name="Shape 6"/>
          <p:cNvSpPr/>
          <p:nvPr/>
        </p:nvSpPr>
        <p:spPr>
          <a:xfrm>
            <a:off x="0" y="5088636"/>
            <a:ext cx="9144000" cy="54864"/>
          </a:xfrm>
          <a:prstGeom prst="rect">
            <a:avLst/>
          </a:prstGeom>
          <a:solidFill>
            <a:srgbClr val="319795"/>
          </a:solidFill>
          <a:ln/>
        </p:spPr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7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1A365D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137160"/>
            <a:ext cx="78638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MỤC LỤC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40080" y="1188720"/>
            <a:ext cx="411480" cy="411480"/>
          </a:xfrm>
          <a:prstGeom prst="ellipse">
            <a:avLst/>
          </a:prstGeom>
          <a:solidFill>
            <a:srgbClr val="1A365D"/>
          </a:solidFill>
          <a:ln/>
        </p:spPr>
      </p:sp>
      <p:sp>
        <p:nvSpPr>
          <p:cNvPr id="5" name="Text 3"/>
          <p:cNvSpPr/>
          <p:nvPr/>
        </p:nvSpPr>
        <p:spPr>
          <a:xfrm>
            <a:off x="640080" y="118872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1188720" y="1188720"/>
            <a:ext cx="32918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A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Đặt vấn đề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640080" y="1920240"/>
            <a:ext cx="411480" cy="411480"/>
          </a:xfrm>
          <a:prstGeom prst="ellipse">
            <a:avLst/>
          </a:prstGeom>
          <a:solidFill>
            <a:srgbClr val="1A365D"/>
          </a:solidFill>
          <a:ln/>
        </p:spPr>
      </p:sp>
      <p:sp>
        <p:nvSpPr>
          <p:cNvPr id="8" name="Text 6"/>
          <p:cNvSpPr/>
          <p:nvPr/>
        </p:nvSpPr>
        <p:spPr>
          <a:xfrm>
            <a:off x="640080" y="192024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1188720" y="1920240"/>
            <a:ext cx="32918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A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Mục tiêu đề tài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640080" y="2651760"/>
            <a:ext cx="411480" cy="411480"/>
          </a:xfrm>
          <a:prstGeom prst="ellipse">
            <a:avLst/>
          </a:prstGeom>
          <a:solidFill>
            <a:srgbClr val="1A365D"/>
          </a:solidFill>
          <a:ln/>
        </p:spPr>
      </p:sp>
      <p:sp>
        <p:nvSpPr>
          <p:cNvPr id="11" name="Text 9"/>
          <p:cNvSpPr/>
          <p:nvPr/>
        </p:nvSpPr>
        <p:spPr>
          <a:xfrm>
            <a:off x="640080" y="265176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1188720" y="2651760"/>
            <a:ext cx="32918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A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Tổng quan hệ thống</a:t>
            </a:r>
            <a:endParaRPr lang="en-US" sz="1600" dirty="0"/>
          </a:p>
        </p:txBody>
      </p:sp>
      <p:sp>
        <p:nvSpPr>
          <p:cNvPr id="13" name="Shape 11"/>
          <p:cNvSpPr/>
          <p:nvPr/>
        </p:nvSpPr>
        <p:spPr>
          <a:xfrm>
            <a:off x="640080" y="3383280"/>
            <a:ext cx="411480" cy="411480"/>
          </a:xfrm>
          <a:prstGeom prst="ellipse">
            <a:avLst/>
          </a:prstGeom>
          <a:solidFill>
            <a:srgbClr val="1A365D"/>
          </a:solidFill>
          <a:ln/>
        </p:spPr>
      </p:sp>
      <p:sp>
        <p:nvSpPr>
          <p:cNvPr id="14" name="Text 12"/>
          <p:cNvSpPr/>
          <p:nvPr/>
        </p:nvSpPr>
        <p:spPr>
          <a:xfrm>
            <a:off x="640080" y="338328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1188720" y="3383280"/>
            <a:ext cx="32918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A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Công nghệ sử dụng</a:t>
            </a:r>
            <a:endParaRPr lang="en-US" sz="1600" dirty="0"/>
          </a:p>
        </p:txBody>
      </p:sp>
      <p:sp>
        <p:nvSpPr>
          <p:cNvPr id="16" name="Shape 14"/>
          <p:cNvSpPr/>
          <p:nvPr/>
        </p:nvSpPr>
        <p:spPr>
          <a:xfrm>
            <a:off x="640080" y="4114800"/>
            <a:ext cx="411480" cy="411480"/>
          </a:xfrm>
          <a:prstGeom prst="ellipse">
            <a:avLst/>
          </a:prstGeom>
          <a:solidFill>
            <a:srgbClr val="1A365D"/>
          </a:solidFill>
          <a:ln/>
        </p:spPr>
      </p:sp>
      <p:sp>
        <p:nvSpPr>
          <p:cNvPr id="17" name="Text 15"/>
          <p:cNvSpPr/>
          <p:nvPr/>
        </p:nvSpPr>
        <p:spPr>
          <a:xfrm>
            <a:off x="640080" y="411480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1188720" y="4114800"/>
            <a:ext cx="32918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A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Thiết kế Server</a:t>
            </a:r>
            <a:endParaRPr lang="en-US" sz="1600" dirty="0"/>
          </a:p>
        </p:txBody>
      </p:sp>
      <p:sp>
        <p:nvSpPr>
          <p:cNvPr id="19" name="Shape 17"/>
          <p:cNvSpPr/>
          <p:nvPr/>
        </p:nvSpPr>
        <p:spPr>
          <a:xfrm>
            <a:off x="4663440" y="1188720"/>
            <a:ext cx="411480" cy="411480"/>
          </a:xfrm>
          <a:prstGeom prst="ellipse">
            <a:avLst/>
          </a:prstGeom>
          <a:solidFill>
            <a:srgbClr val="1A365D"/>
          </a:solidFill>
          <a:ln/>
        </p:spPr>
      </p:sp>
      <p:sp>
        <p:nvSpPr>
          <p:cNvPr id="20" name="Text 18"/>
          <p:cNvSpPr/>
          <p:nvPr/>
        </p:nvSpPr>
        <p:spPr>
          <a:xfrm>
            <a:off x="4663440" y="118872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5212080" y="1188720"/>
            <a:ext cx="32918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A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Thiết kế Agent</a:t>
            </a:r>
            <a:endParaRPr lang="en-US" sz="1600" dirty="0"/>
          </a:p>
        </p:txBody>
      </p:sp>
      <p:sp>
        <p:nvSpPr>
          <p:cNvPr id="22" name="Shape 20"/>
          <p:cNvSpPr/>
          <p:nvPr/>
        </p:nvSpPr>
        <p:spPr>
          <a:xfrm>
            <a:off x="4663440" y="1920240"/>
            <a:ext cx="411480" cy="411480"/>
          </a:xfrm>
          <a:prstGeom prst="ellipse">
            <a:avLst/>
          </a:prstGeom>
          <a:solidFill>
            <a:srgbClr val="1A365D"/>
          </a:solidFill>
          <a:ln/>
        </p:spPr>
      </p:sp>
      <p:sp>
        <p:nvSpPr>
          <p:cNvPr id="23" name="Text 21"/>
          <p:cNvSpPr/>
          <p:nvPr/>
        </p:nvSpPr>
        <p:spPr>
          <a:xfrm>
            <a:off x="4663440" y="192024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07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5212080" y="1920240"/>
            <a:ext cx="32918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A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Luồng hoạt động</a:t>
            </a:r>
            <a:endParaRPr lang="en-US" sz="1600" dirty="0"/>
          </a:p>
        </p:txBody>
      </p:sp>
      <p:sp>
        <p:nvSpPr>
          <p:cNvPr id="25" name="Shape 23"/>
          <p:cNvSpPr/>
          <p:nvPr/>
        </p:nvSpPr>
        <p:spPr>
          <a:xfrm>
            <a:off x="4663440" y="2651760"/>
            <a:ext cx="411480" cy="411480"/>
          </a:xfrm>
          <a:prstGeom prst="ellipse">
            <a:avLst/>
          </a:prstGeom>
          <a:solidFill>
            <a:srgbClr val="1A365D"/>
          </a:solidFill>
          <a:ln/>
        </p:spPr>
      </p:sp>
      <p:sp>
        <p:nvSpPr>
          <p:cNvPr id="26" name="Text 24"/>
          <p:cNvSpPr/>
          <p:nvPr/>
        </p:nvSpPr>
        <p:spPr>
          <a:xfrm>
            <a:off x="4663440" y="265176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08</a:t>
            </a:r>
            <a:endParaRPr lang="en-US" sz="1300" dirty="0"/>
          </a:p>
        </p:txBody>
      </p:sp>
      <p:sp>
        <p:nvSpPr>
          <p:cNvPr id="27" name="Text 25"/>
          <p:cNvSpPr/>
          <p:nvPr/>
        </p:nvSpPr>
        <p:spPr>
          <a:xfrm>
            <a:off x="5212080" y="2651760"/>
            <a:ext cx="32918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A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Bảo mật hệ thống</a:t>
            </a:r>
            <a:endParaRPr lang="en-US" sz="1600" dirty="0"/>
          </a:p>
        </p:txBody>
      </p:sp>
      <p:sp>
        <p:nvSpPr>
          <p:cNvPr id="28" name="Shape 26"/>
          <p:cNvSpPr/>
          <p:nvPr/>
        </p:nvSpPr>
        <p:spPr>
          <a:xfrm>
            <a:off x="4663440" y="3383280"/>
            <a:ext cx="411480" cy="411480"/>
          </a:xfrm>
          <a:prstGeom prst="ellipse">
            <a:avLst/>
          </a:prstGeom>
          <a:solidFill>
            <a:srgbClr val="1A365D"/>
          </a:solidFill>
          <a:ln/>
        </p:spPr>
      </p:sp>
      <p:sp>
        <p:nvSpPr>
          <p:cNvPr id="29" name="Text 27"/>
          <p:cNvSpPr/>
          <p:nvPr/>
        </p:nvSpPr>
        <p:spPr>
          <a:xfrm>
            <a:off x="4663440" y="338328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09</a:t>
            </a:r>
            <a:endParaRPr lang="en-US" sz="1300" dirty="0"/>
          </a:p>
        </p:txBody>
      </p:sp>
      <p:sp>
        <p:nvSpPr>
          <p:cNvPr id="30" name="Text 28"/>
          <p:cNvSpPr/>
          <p:nvPr/>
        </p:nvSpPr>
        <p:spPr>
          <a:xfrm>
            <a:off x="5212080" y="3383280"/>
            <a:ext cx="32918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A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Kết quả đạt được</a:t>
            </a:r>
            <a:endParaRPr lang="en-US" sz="1600" dirty="0"/>
          </a:p>
        </p:txBody>
      </p:sp>
      <p:sp>
        <p:nvSpPr>
          <p:cNvPr id="31" name="Shape 29"/>
          <p:cNvSpPr/>
          <p:nvPr/>
        </p:nvSpPr>
        <p:spPr>
          <a:xfrm>
            <a:off x="4663440" y="4114800"/>
            <a:ext cx="411480" cy="411480"/>
          </a:xfrm>
          <a:prstGeom prst="ellipse">
            <a:avLst/>
          </a:prstGeom>
          <a:solidFill>
            <a:srgbClr val="1A365D"/>
          </a:solidFill>
          <a:ln/>
        </p:spPr>
      </p:sp>
      <p:sp>
        <p:nvSpPr>
          <p:cNvPr id="32" name="Text 30"/>
          <p:cNvSpPr/>
          <p:nvPr/>
        </p:nvSpPr>
        <p:spPr>
          <a:xfrm>
            <a:off x="4663440" y="411480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1300" dirty="0"/>
          </a:p>
        </p:txBody>
      </p:sp>
      <p:sp>
        <p:nvSpPr>
          <p:cNvPr id="33" name="Text 31"/>
          <p:cNvSpPr/>
          <p:nvPr/>
        </p:nvSpPr>
        <p:spPr>
          <a:xfrm>
            <a:off x="5212080" y="4114800"/>
            <a:ext cx="32918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A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Kết luận &amp; Hướng phát triển</a:t>
            </a:r>
            <a:endParaRPr lang="en-US" sz="16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7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1A365D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137160"/>
            <a:ext cx="78638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ĐẶT VẤN ĐỀ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640080" y="1051560"/>
            <a:ext cx="7863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A0AE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Thực trạng quản lý mạng trong môi trường giáo dục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640080" y="1554480"/>
            <a:ext cx="7863840" cy="7772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640080" y="1554480"/>
            <a:ext cx="54864" cy="777240"/>
          </a:xfrm>
          <a:prstGeom prst="rect">
            <a:avLst/>
          </a:prstGeom>
          <a:solidFill>
            <a:srgbClr val="E53E3E"/>
          </a:solidFill>
          <a:ln/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68680" y="1719072"/>
            <a:ext cx="411480" cy="411480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1463040" y="1627632"/>
            <a:ext cx="6858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A202C"/>
                </a:solidFill>
              </a:rPr>
              <a:t>Truy cập không kiểm soát</a:t>
            </a:r>
            <a:endParaRPr lang="en-US" sz="1500" dirty="0"/>
          </a:p>
          <a:p>
            <a:pPr indent="0" marL="0">
              <a:buNone/>
            </a:pPr>
            <a:r>
              <a:rPr lang="en-US" sz="1200" dirty="0">
                <a:solidFill>
                  <a:srgbClr val="4A5568"/>
                </a:solidFill>
              </a:rPr>
              <a:t>Học sinh truy cập web không phù hợp trong giờ học, ảnh hưởng chất lượng dạy và học</a:t>
            </a:r>
            <a:endParaRPr lang="en-US" sz="1500" dirty="0"/>
          </a:p>
        </p:txBody>
      </p:sp>
      <p:sp>
        <p:nvSpPr>
          <p:cNvPr id="9" name="Shape 6"/>
          <p:cNvSpPr/>
          <p:nvPr/>
        </p:nvSpPr>
        <p:spPr>
          <a:xfrm>
            <a:off x="640080" y="2423160"/>
            <a:ext cx="7863840" cy="7772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640080" y="2423160"/>
            <a:ext cx="54864" cy="777240"/>
          </a:xfrm>
          <a:prstGeom prst="rect">
            <a:avLst/>
          </a:prstGeom>
          <a:solidFill>
            <a:srgbClr val="E53E3E"/>
          </a:solidFill>
          <a:ln/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68680" y="2587752"/>
            <a:ext cx="411480" cy="411480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1463040" y="2496312"/>
            <a:ext cx="6858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A202C"/>
                </a:solidFill>
              </a:rPr>
              <a:t>Thiếu công cụ tập trung</a:t>
            </a:r>
            <a:endParaRPr lang="en-US" sz="1500" dirty="0"/>
          </a:p>
          <a:p>
            <a:pPr indent="0" marL="0">
              <a:buNone/>
            </a:pPr>
            <a:r>
              <a:rPr lang="en-US" sz="1200" dirty="0">
                <a:solidFill>
                  <a:srgbClr val="4A5568"/>
                </a:solidFill>
              </a:rPr>
              <a:t>Chưa có giải pháp quản lý mạng tập trung phù hợp cho trường học quy mô vừa và nhỏ</a:t>
            </a:r>
            <a:endParaRPr lang="en-US" sz="1500" dirty="0"/>
          </a:p>
        </p:txBody>
      </p:sp>
      <p:sp>
        <p:nvSpPr>
          <p:cNvPr id="13" name="Shape 9"/>
          <p:cNvSpPr/>
          <p:nvPr/>
        </p:nvSpPr>
        <p:spPr>
          <a:xfrm>
            <a:off x="640080" y="3291840"/>
            <a:ext cx="7863840" cy="7772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14" name="Shape 10"/>
          <p:cNvSpPr/>
          <p:nvPr/>
        </p:nvSpPr>
        <p:spPr>
          <a:xfrm>
            <a:off x="640080" y="3291840"/>
            <a:ext cx="54864" cy="777240"/>
          </a:xfrm>
          <a:prstGeom prst="rect">
            <a:avLst/>
          </a:prstGeom>
          <a:solidFill>
            <a:srgbClr val="E53E3E"/>
          </a:solidFill>
          <a:ln/>
        </p:spPr>
      </p:sp>
      <p:pic>
        <p:nvPicPr>
          <p:cNvPr id="15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68680" y="3456432"/>
            <a:ext cx="411480" cy="411480"/>
          </a:xfrm>
          <a:prstGeom prst="rect">
            <a:avLst/>
          </a:prstGeom>
        </p:spPr>
      </p:pic>
      <p:sp>
        <p:nvSpPr>
          <p:cNvPr id="16" name="Text 11"/>
          <p:cNvSpPr/>
          <p:nvPr/>
        </p:nvSpPr>
        <p:spPr>
          <a:xfrm>
            <a:off x="1463040" y="3364992"/>
            <a:ext cx="6858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A202C"/>
                </a:solidFill>
              </a:rPr>
              <a:t>Giáo viên thiếu quyền kiểm soát</a:t>
            </a:r>
            <a:endParaRPr lang="en-US" sz="1500" dirty="0"/>
          </a:p>
          <a:p>
            <a:pPr indent="0" marL="0">
              <a:buNone/>
            </a:pPr>
            <a:r>
              <a:rPr lang="en-US" sz="1200" dirty="0">
                <a:solidFill>
                  <a:srgbClr val="4A5568"/>
                </a:solidFill>
              </a:rPr>
              <a:t>Giáo viên không thể kiểm soát truy cập mạng theo lớp/nhóm trong giờ giảng dạy</a:t>
            </a:r>
            <a:endParaRPr lang="en-US" sz="1500" dirty="0"/>
          </a:p>
        </p:txBody>
      </p:sp>
      <p:sp>
        <p:nvSpPr>
          <p:cNvPr id="17" name="Shape 12"/>
          <p:cNvSpPr/>
          <p:nvPr/>
        </p:nvSpPr>
        <p:spPr>
          <a:xfrm>
            <a:off x="640080" y="4160520"/>
            <a:ext cx="7863840" cy="7772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18" name="Shape 13"/>
          <p:cNvSpPr/>
          <p:nvPr/>
        </p:nvSpPr>
        <p:spPr>
          <a:xfrm>
            <a:off x="640080" y="4160520"/>
            <a:ext cx="54864" cy="777240"/>
          </a:xfrm>
          <a:prstGeom prst="rect">
            <a:avLst/>
          </a:prstGeom>
          <a:solidFill>
            <a:srgbClr val="E53E3E"/>
          </a:solidFill>
          <a:ln/>
        </p:spPr>
      </p:sp>
      <p:pic>
        <p:nvPicPr>
          <p:cNvPr id="19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68680" y="4325112"/>
            <a:ext cx="411480" cy="411480"/>
          </a:xfrm>
          <a:prstGeom prst="rect">
            <a:avLst/>
          </a:prstGeom>
        </p:spPr>
      </p:pic>
      <p:sp>
        <p:nvSpPr>
          <p:cNvPr id="20" name="Text 14"/>
          <p:cNvSpPr/>
          <p:nvPr/>
        </p:nvSpPr>
        <p:spPr>
          <a:xfrm>
            <a:off x="1463040" y="4233672"/>
            <a:ext cx="6858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A202C"/>
                </a:solidFill>
              </a:rPr>
              <a:t>Giải pháp hiện tại phức tạp</a:t>
            </a:r>
            <a:endParaRPr lang="en-US" sz="1500" dirty="0"/>
          </a:p>
          <a:p>
            <a:pPr indent="0" marL="0">
              <a:buNone/>
            </a:pPr>
            <a:r>
              <a:rPr lang="en-US" sz="1200" dirty="0">
                <a:solidFill>
                  <a:srgbClr val="4A5568"/>
                </a:solidFill>
              </a:rPr>
              <a:t>Proxy server, firewall thủ công đòi hỏi chuyên môn IT cao, khó triển khai và bảo trì</a:t>
            </a:r>
            <a:endParaRPr lang="en-US" sz="15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7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1A365D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137160"/>
            <a:ext cx="78638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MỤC TIÊU ĐỀ TÀI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640080" y="1051560"/>
            <a:ext cx="7863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A0AE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Xây dựng hệ thống SAINT giải quyết các vấn đề trên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640080" y="1508760"/>
            <a:ext cx="7863840" cy="621792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640080" y="1508760"/>
            <a:ext cx="54864" cy="621792"/>
          </a:xfrm>
          <a:prstGeom prst="rect">
            <a:avLst/>
          </a:prstGeom>
          <a:solidFill>
            <a:srgbClr val="38A169"/>
          </a:solidFill>
          <a:ln/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68680" y="1627632"/>
            <a:ext cx="365760" cy="365760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1417320" y="1554480"/>
            <a:ext cx="690372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202C"/>
                </a:solidFill>
              </a:rPr>
              <a:t>Hệ thống Client-Server</a:t>
            </a:r>
            <a:endParaRPr lang="en-US" sz="1400" dirty="0"/>
          </a:p>
          <a:p>
            <a:pPr indent="0" marL="0">
              <a:buNone/>
            </a:pPr>
            <a:r>
              <a:rPr lang="en-US" sz="1100" dirty="0">
                <a:solidFill>
                  <a:srgbClr val="4A5568"/>
                </a:solidFill>
              </a:rPr>
              <a:t>Xây dựng kiến trúc phân tán với Server quản lý tập trung và Agent trên máy client</a:t>
            </a:r>
            <a:endParaRPr lang="en-US" sz="1400" dirty="0"/>
          </a:p>
        </p:txBody>
      </p:sp>
      <p:sp>
        <p:nvSpPr>
          <p:cNvPr id="9" name="Shape 6"/>
          <p:cNvSpPr/>
          <p:nvPr/>
        </p:nvSpPr>
        <p:spPr>
          <a:xfrm>
            <a:off x="640080" y="2194560"/>
            <a:ext cx="7863840" cy="621792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640080" y="2194560"/>
            <a:ext cx="54864" cy="621792"/>
          </a:xfrm>
          <a:prstGeom prst="rect">
            <a:avLst/>
          </a:prstGeom>
          <a:solidFill>
            <a:srgbClr val="38A169"/>
          </a:solidFill>
          <a:ln/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68680" y="2313432"/>
            <a:ext cx="365760" cy="365760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1417320" y="2240280"/>
            <a:ext cx="690372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202C"/>
                </a:solidFill>
              </a:rPr>
              <a:t>Whitelist-based Firewall</a:t>
            </a:r>
            <a:endParaRPr lang="en-US" sz="1400" dirty="0"/>
          </a:p>
          <a:p>
            <a:pPr indent="0" marL="0">
              <a:buNone/>
            </a:pPr>
            <a:r>
              <a:rPr lang="en-US" sz="1100" dirty="0">
                <a:solidFill>
                  <a:srgbClr val="4A5568"/>
                </a:solidFill>
              </a:rPr>
              <a:t>Agent tự động áp dụng firewall dựa trên whitelist, chỉ cho phép truy cập domain được phê duyệt</a:t>
            </a:r>
            <a:endParaRPr lang="en-US" sz="1400" dirty="0"/>
          </a:p>
        </p:txBody>
      </p:sp>
      <p:sp>
        <p:nvSpPr>
          <p:cNvPr id="13" name="Shape 9"/>
          <p:cNvSpPr/>
          <p:nvPr/>
        </p:nvSpPr>
        <p:spPr>
          <a:xfrm>
            <a:off x="640080" y="2880360"/>
            <a:ext cx="7863840" cy="621792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14" name="Shape 10"/>
          <p:cNvSpPr/>
          <p:nvPr/>
        </p:nvSpPr>
        <p:spPr>
          <a:xfrm>
            <a:off x="640080" y="2880360"/>
            <a:ext cx="54864" cy="621792"/>
          </a:xfrm>
          <a:prstGeom prst="rect">
            <a:avLst/>
          </a:prstGeom>
          <a:solidFill>
            <a:srgbClr val="38A169"/>
          </a:solidFill>
          <a:ln/>
        </p:spPr>
      </p:sp>
      <p:pic>
        <p:nvPicPr>
          <p:cNvPr id="15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68680" y="2999232"/>
            <a:ext cx="365760" cy="365760"/>
          </a:xfrm>
          <a:prstGeom prst="rect">
            <a:avLst/>
          </a:prstGeom>
        </p:spPr>
      </p:pic>
      <p:sp>
        <p:nvSpPr>
          <p:cNvPr id="16" name="Text 11"/>
          <p:cNvSpPr/>
          <p:nvPr/>
        </p:nvSpPr>
        <p:spPr>
          <a:xfrm>
            <a:off x="1417320" y="2926080"/>
            <a:ext cx="690372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202C"/>
                </a:solidFill>
              </a:rPr>
              <a:t>Giám sát Real-time</a:t>
            </a:r>
            <a:endParaRPr lang="en-US" sz="1400" dirty="0"/>
          </a:p>
          <a:p>
            <a:pPr indent="0" marL="0">
              <a:buNone/>
            </a:pPr>
            <a:r>
              <a:rPr lang="en-US" sz="1100" dirty="0">
                <a:solidFill>
                  <a:srgbClr val="4A5568"/>
                </a:solidFill>
              </a:rPr>
              <a:t>Bắt gói tin mạng, trích xuất domain, giám sát hoạt động và gửi log về server</a:t>
            </a:r>
            <a:endParaRPr lang="en-US" sz="1400" dirty="0"/>
          </a:p>
        </p:txBody>
      </p:sp>
      <p:sp>
        <p:nvSpPr>
          <p:cNvPr id="17" name="Shape 12"/>
          <p:cNvSpPr/>
          <p:nvPr/>
        </p:nvSpPr>
        <p:spPr>
          <a:xfrm>
            <a:off x="640080" y="3566160"/>
            <a:ext cx="7863840" cy="621792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18" name="Shape 13"/>
          <p:cNvSpPr/>
          <p:nvPr/>
        </p:nvSpPr>
        <p:spPr>
          <a:xfrm>
            <a:off x="640080" y="3566160"/>
            <a:ext cx="54864" cy="621792"/>
          </a:xfrm>
          <a:prstGeom prst="rect">
            <a:avLst/>
          </a:prstGeom>
          <a:solidFill>
            <a:srgbClr val="38A169"/>
          </a:solidFill>
          <a:ln/>
        </p:spPr>
      </p:sp>
      <p:pic>
        <p:nvPicPr>
          <p:cNvPr id="19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68680" y="3685032"/>
            <a:ext cx="365760" cy="365760"/>
          </a:xfrm>
          <a:prstGeom prst="rect">
            <a:avLst/>
          </a:prstGeom>
        </p:spPr>
      </p:pic>
      <p:sp>
        <p:nvSpPr>
          <p:cNvPr id="20" name="Text 14"/>
          <p:cNvSpPr/>
          <p:nvPr/>
        </p:nvSpPr>
        <p:spPr>
          <a:xfrm>
            <a:off x="1417320" y="3611880"/>
            <a:ext cx="690372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202C"/>
                </a:solidFill>
              </a:rPr>
              <a:t>RBAC cho Admin/Teacher</a:t>
            </a:r>
            <a:endParaRPr lang="en-US" sz="1400" dirty="0"/>
          </a:p>
          <a:p>
            <a:pPr indent="0" marL="0">
              <a:buNone/>
            </a:pPr>
            <a:r>
              <a:rPr lang="en-US" sz="1100" dirty="0">
                <a:solidFill>
                  <a:srgbClr val="4A5568"/>
                </a:solidFill>
              </a:rPr>
              <a:t>Phân quyền chi tiết: Admin toàn quyền, Teacher quản lý nhóm mình phụ trách</a:t>
            </a:r>
            <a:endParaRPr lang="en-US" sz="1400" dirty="0"/>
          </a:p>
        </p:txBody>
      </p:sp>
      <p:sp>
        <p:nvSpPr>
          <p:cNvPr id="21" name="Shape 15"/>
          <p:cNvSpPr/>
          <p:nvPr/>
        </p:nvSpPr>
        <p:spPr>
          <a:xfrm>
            <a:off x="640080" y="4251960"/>
            <a:ext cx="7863840" cy="621792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22" name="Shape 16"/>
          <p:cNvSpPr/>
          <p:nvPr/>
        </p:nvSpPr>
        <p:spPr>
          <a:xfrm>
            <a:off x="640080" y="4251960"/>
            <a:ext cx="54864" cy="621792"/>
          </a:xfrm>
          <a:prstGeom prst="rect">
            <a:avLst/>
          </a:prstGeom>
          <a:solidFill>
            <a:srgbClr val="38A169"/>
          </a:solidFill>
          <a:ln/>
        </p:spPr>
      </p:sp>
      <p:pic>
        <p:nvPicPr>
          <p:cNvPr id="23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68680" y="4370832"/>
            <a:ext cx="365760" cy="365760"/>
          </a:xfrm>
          <a:prstGeom prst="rect">
            <a:avLst/>
          </a:prstGeom>
        </p:spPr>
      </p:pic>
      <p:sp>
        <p:nvSpPr>
          <p:cNvPr id="24" name="Text 17"/>
          <p:cNvSpPr/>
          <p:nvPr/>
        </p:nvSpPr>
        <p:spPr>
          <a:xfrm>
            <a:off x="1417320" y="4297680"/>
            <a:ext cx="690372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202C"/>
                </a:solidFill>
              </a:rPr>
              <a:t>Audit Trail đầy đủ</a:t>
            </a:r>
            <a:endParaRPr lang="en-US" sz="1400" dirty="0"/>
          </a:p>
          <a:p>
            <a:pPr indent="0" marL="0">
              <a:buNone/>
            </a:pPr>
            <a:r>
              <a:rPr lang="en-US" sz="1100" dirty="0">
                <a:solidFill>
                  <a:srgbClr val="4A5568"/>
                </a:solidFill>
              </a:rPr>
              <a:t>Ghi log mọi hành động quản trị, đảm bảo trách nhiệm giải trình</a:t>
            </a:r>
            <a:endParaRPr lang="en-US" sz="14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7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1A365D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137160"/>
            <a:ext cx="78638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TỔNG QUAN KIẾN TRÚC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640080" y="1051560"/>
            <a:ext cx="7863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A0AE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Mô hình Client-Server phân tán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2926080" y="1371600"/>
            <a:ext cx="3291840" cy="16459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2926080" y="1371600"/>
            <a:ext cx="54864" cy="1645920"/>
          </a:xfrm>
          <a:prstGeom prst="rect">
            <a:avLst/>
          </a:prstGeom>
          <a:solidFill>
            <a:srgbClr val="2B6CB0"/>
          </a:solidFill>
          <a:ln/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200400" y="1508760"/>
            <a:ext cx="457200" cy="457200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3749040" y="1463040"/>
            <a:ext cx="228600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A202C"/>
                </a:solidFill>
              </a:rPr>
              <a:t>SERVER (Flask)</a:t>
            </a:r>
            <a:endParaRPr lang="en-US" sz="1600" dirty="0"/>
          </a:p>
          <a:p>
            <a:pPr indent="0" marL="0">
              <a:buNone/>
            </a:pPr>
            <a:r>
              <a:rPr lang="en-US" sz="1100" dirty="0">
                <a:solidFill>
                  <a:srgbClr val="4A5568"/>
                </a:solidFill>
              </a:rPr>
              <a:t>REST API + WebSocket</a:t>
            </a:r>
            <a:endParaRPr lang="en-US" sz="1600" dirty="0"/>
          </a:p>
          <a:p>
            <a:pPr indent="0" marL="0">
              <a:buNone/>
            </a:pPr>
            <a:r>
              <a:rPr lang="en-US" sz="1100" dirty="0">
                <a:solidFill>
                  <a:srgbClr val="4A5568"/>
                </a:solidFill>
              </a:rPr>
              <a:t>JWT + RBAC Authentication</a:t>
            </a:r>
            <a:endParaRPr lang="en-US" sz="1600" dirty="0"/>
          </a:p>
          <a:p>
            <a:pPr indent="0" marL="0">
              <a:buNone/>
            </a:pPr>
            <a:r>
              <a:rPr lang="en-US" sz="1100" dirty="0">
                <a:solidFill>
                  <a:srgbClr val="4A5568"/>
                </a:solidFill>
              </a:rPr>
              <a:t>Web Dashboard</a:t>
            </a:r>
            <a:endParaRPr lang="en-US" sz="1600" dirty="0"/>
          </a:p>
        </p:txBody>
      </p:sp>
      <p:sp>
        <p:nvSpPr>
          <p:cNvPr id="9" name="Shape 6"/>
          <p:cNvSpPr/>
          <p:nvPr/>
        </p:nvSpPr>
        <p:spPr>
          <a:xfrm>
            <a:off x="6858000" y="1645920"/>
            <a:ext cx="1920240" cy="10972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6858000" y="1645920"/>
            <a:ext cx="54864" cy="1097280"/>
          </a:xfrm>
          <a:prstGeom prst="rect">
            <a:avLst/>
          </a:prstGeom>
          <a:solidFill>
            <a:srgbClr val="319795"/>
          </a:solidFill>
          <a:ln/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086600" y="1783080"/>
            <a:ext cx="365760" cy="365760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7498080" y="1737360"/>
            <a:ext cx="11887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202C"/>
                </a:solidFill>
              </a:rPr>
              <a:t>MongoDB</a:t>
            </a:r>
            <a:endParaRPr lang="en-US" sz="1400" dirty="0"/>
          </a:p>
          <a:p>
            <a:pPr indent="0" marL="0">
              <a:buNone/>
            </a:pPr>
            <a:r>
              <a:rPr lang="en-US" sz="1100" dirty="0">
                <a:solidFill>
                  <a:srgbClr val="4A5568"/>
                </a:solidFill>
              </a:rPr>
              <a:t>Atlas (Cloud)</a:t>
            </a:r>
            <a:endParaRPr lang="en-US" sz="1400" dirty="0"/>
          </a:p>
          <a:p>
            <a:pPr indent="0" marL="0">
              <a:buNone/>
            </a:pPr>
            <a:r>
              <a:rPr lang="en-US" sz="1100" dirty="0">
                <a:solidFill>
                  <a:srgbClr val="4A5568"/>
                </a:solidFill>
              </a:rPr>
              <a:t>12 Collections</a:t>
            </a:r>
            <a:endParaRPr lang="en-US" sz="1400" dirty="0"/>
          </a:p>
        </p:txBody>
      </p:sp>
      <p:sp>
        <p:nvSpPr>
          <p:cNvPr id="13" name="Shape 9"/>
          <p:cNvSpPr/>
          <p:nvPr/>
        </p:nvSpPr>
        <p:spPr>
          <a:xfrm>
            <a:off x="6217920" y="2194560"/>
            <a:ext cx="640080" cy="0"/>
          </a:xfrm>
          <a:prstGeom prst="line">
            <a:avLst/>
          </a:prstGeom>
          <a:noFill/>
          <a:ln w="25400">
            <a:solidFill>
              <a:srgbClr val="2B6CB0"/>
            </a:solidFill>
            <a:prstDash val="solid"/>
          </a:ln>
        </p:spPr>
      </p:sp>
      <p:sp>
        <p:nvSpPr>
          <p:cNvPr id="14" name="Shape 10"/>
          <p:cNvSpPr/>
          <p:nvPr/>
        </p:nvSpPr>
        <p:spPr>
          <a:xfrm>
            <a:off x="1097280" y="3657600"/>
            <a:ext cx="2103120" cy="10972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15" name="Shape 11"/>
          <p:cNvSpPr/>
          <p:nvPr/>
        </p:nvSpPr>
        <p:spPr>
          <a:xfrm>
            <a:off x="1097280" y="3657600"/>
            <a:ext cx="54864" cy="1097280"/>
          </a:xfrm>
          <a:prstGeom prst="rect">
            <a:avLst/>
          </a:prstGeom>
          <a:solidFill>
            <a:srgbClr val="319795"/>
          </a:solidFill>
          <a:ln/>
        </p:spPr>
      </p:sp>
      <p:pic>
        <p:nvPicPr>
          <p:cNvPr id="16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0160" y="3794760"/>
            <a:ext cx="320040" cy="320040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1691640" y="3749040"/>
            <a:ext cx="1371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202C"/>
                </a:solidFill>
              </a:rPr>
              <a:t>AGENT #1</a:t>
            </a:r>
            <a:endParaRPr lang="en-US" sz="1300" dirty="0"/>
          </a:p>
          <a:p>
            <a:pPr indent="0" marL="0">
              <a:buNone/>
            </a:pPr>
            <a:r>
              <a:rPr lang="en-US" sz="1000" dirty="0">
                <a:solidFill>
                  <a:srgbClr val="4A5568"/>
                </a:solidFill>
              </a:rPr>
              <a:t>Windows PC</a:t>
            </a:r>
            <a:endParaRPr lang="en-US" sz="1300" dirty="0"/>
          </a:p>
          <a:p>
            <a:pPr indent="0" marL="0">
              <a:buNone/>
            </a:pPr>
            <a:r>
              <a:rPr lang="en-US" sz="1000" dirty="0">
                <a:solidFill>
                  <a:srgbClr val="4A5568"/>
                </a:solidFill>
              </a:rPr>
              <a:t>SAINT.exe</a:t>
            </a:r>
            <a:endParaRPr lang="en-US" sz="1300" dirty="0"/>
          </a:p>
        </p:txBody>
      </p:sp>
      <p:sp>
        <p:nvSpPr>
          <p:cNvPr id="18" name="Shape 13"/>
          <p:cNvSpPr/>
          <p:nvPr/>
        </p:nvSpPr>
        <p:spPr>
          <a:xfrm>
            <a:off x="2148840" y="3017520"/>
            <a:ext cx="0" cy="640080"/>
          </a:xfrm>
          <a:prstGeom prst="line">
            <a:avLst/>
          </a:prstGeom>
          <a:noFill/>
          <a:ln w="25400">
            <a:solidFill>
              <a:srgbClr val="2B6CB0"/>
            </a:solidFill>
            <a:prstDash val="solid"/>
          </a:ln>
        </p:spPr>
      </p:sp>
      <p:sp>
        <p:nvSpPr>
          <p:cNvPr id="19" name="Shape 14"/>
          <p:cNvSpPr/>
          <p:nvPr/>
        </p:nvSpPr>
        <p:spPr>
          <a:xfrm>
            <a:off x="3657600" y="3657600"/>
            <a:ext cx="2103120" cy="10972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20" name="Shape 15"/>
          <p:cNvSpPr/>
          <p:nvPr/>
        </p:nvSpPr>
        <p:spPr>
          <a:xfrm>
            <a:off x="3657600" y="3657600"/>
            <a:ext cx="54864" cy="1097280"/>
          </a:xfrm>
          <a:prstGeom prst="rect">
            <a:avLst/>
          </a:prstGeom>
          <a:solidFill>
            <a:srgbClr val="319795"/>
          </a:solidFill>
          <a:ln/>
        </p:spPr>
      </p:sp>
      <p:pic>
        <p:nvPicPr>
          <p:cNvPr id="21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840480" y="3794760"/>
            <a:ext cx="320040" cy="320040"/>
          </a:xfrm>
          <a:prstGeom prst="rect">
            <a:avLst/>
          </a:prstGeom>
        </p:spPr>
      </p:pic>
      <p:sp>
        <p:nvSpPr>
          <p:cNvPr id="22" name="Text 16"/>
          <p:cNvSpPr/>
          <p:nvPr/>
        </p:nvSpPr>
        <p:spPr>
          <a:xfrm>
            <a:off x="4251960" y="3749040"/>
            <a:ext cx="1371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202C"/>
                </a:solidFill>
              </a:rPr>
              <a:t>AGENT #2</a:t>
            </a:r>
            <a:endParaRPr lang="en-US" sz="1300" dirty="0"/>
          </a:p>
          <a:p>
            <a:pPr indent="0" marL="0">
              <a:buNone/>
            </a:pPr>
            <a:r>
              <a:rPr lang="en-US" sz="1000" dirty="0">
                <a:solidFill>
                  <a:srgbClr val="4A5568"/>
                </a:solidFill>
              </a:rPr>
              <a:t>Windows PC</a:t>
            </a:r>
            <a:endParaRPr lang="en-US" sz="1300" dirty="0"/>
          </a:p>
          <a:p>
            <a:pPr indent="0" marL="0">
              <a:buNone/>
            </a:pPr>
            <a:r>
              <a:rPr lang="en-US" sz="1000" dirty="0">
                <a:solidFill>
                  <a:srgbClr val="4A5568"/>
                </a:solidFill>
              </a:rPr>
              <a:t>SAINT.exe</a:t>
            </a:r>
            <a:endParaRPr lang="en-US" sz="1300" dirty="0"/>
          </a:p>
        </p:txBody>
      </p:sp>
      <p:sp>
        <p:nvSpPr>
          <p:cNvPr id="23" name="Shape 17"/>
          <p:cNvSpPr/>
          <p:nvPr/>
        </p:nvSpPr>
        <p:spPr>
          <a:xfrm>
            <a:off x="4709160" y="3017520"/>
            <a:ext cx="0" cy="640080"/>
          </a:xfrm>
          <a:prstGeom prst="line">
            <a:avLst/>
          </a:prstGeom>
          <a:noFill/>
          <a:ln w="25400">
            <a:solidFill>
              <a:srgbClr val="2B6CB0"/>
            </a:solidFill>
            <a:prstDash val="solid"/>
          </a:ln>
        </p:spPr>
      </p:sp>
      <p:sp>
        <p:nvSpPr>
          <p:cNvPr id="24" name="Shape 18"/>
          <p:cNvSpPr/>
          <p:nvPr/>
        </p:nvSpPr>
        <p:spPr>
          <a:xfrm>
            <a:off x="6217920" y="3657600"/>
            <a:ext cx="2103120" cy="10972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25" name="Shape 19"/>
          <p:cNvSpPr/>
          <p:nvPr/>
        </p:nvSpPr>
        <p:spPr>
          <a:xfrm>
            <a:off x="6217920" y="3657600"/>
            <a:ext cx="54864" cy="1097280"/>
          </a:xfrm>
          <a:prstGeom prst="rect">
            <a:avLst/>
          </a:prstGeom>
          <a:solidFill>
            <a:srgbClr val="319795"/>
          </a:solidFill>
          <a:ln/>
        </p:spPr>
      </p:sp>
      <p:pic>
        <p:nvPicPr>
          <p:cNvPr id="26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400800" y="3794760"/>
            <a:ext cx="320040" cy="320040"/>
          </a:xfrm>
          <a:prstGeom prst="rect">
            <a:avLst/>
          </a:prstGeom>
        </p:spPr>
      </p:pic>
      <p:sp>
        <p:nvSpPr>
          <p:cNvPr id="27" name="Text 20"/>
          <p:cNvSpPr/>
          <p:nvPr/>
        </p:nvSpPr>
        <p:spPr>
          <a:xfrm>
            <a:off x="6812280" y="3749040"/>
            <a:ext cx="1371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202C"/>
                </a:solidFill>
              </a:rPr>
              <a:t>AGENT #3</a:t>
            </a:r>
            <a:endParaRPr lang="en-US" sz="1300" dirty="0"/>
          </a:p>
          <a:p>
            <a:pPr indent="0" marL="0">
              <a:buNone/>
            </a:pPr>
            <a:r>
              <a:rPr lang="en-US" sz="1000" dirty="0">
                <a:solidFill>
                  <a:srgbClr val="4A5568"/>
                </a:solidFill>
              </a:rPr>
              <a:t>Windows PC</a:t>
            </a:r>
            <a:endParaRPr lang="en-US" sz="1300" dirty="0"/>
          </a:p>
          <a:p>
            <a:pPr indent="0" marL="0">
              <a:buNone/>
            </a:pPr>
            <a:r>
              <a:rPr lang="en-US" sz="1000" dirty="0">
                <a:solidFill>
                  <a:srgbClr val="4A5568"/>
                </a:solidFill>
              </a:rPr>
              <a:t>SAINT.exe</a:t>
            </a:r>
            <a:endParaRPr lang="en-US" sz="1300" dirty="0"/>
          </a:p>
        </p:txBody>
      </p:sp>
      <p:sp>
        <p:nvSpPr>
          <p:cNvPr id="28" name="Shape 21"/>
          <p:cNvSpPr/>
          <p:nvPr/>
        </p:nvSpPr>
        <p:spPr>
          <a:xfrm>
            <a:off x="7269480" y="3017520"/>
            <a:ext cx="0" cy="640080"/>
          </a:xfrm>
          <a:prstGeom prst="line">
            <a:avLst/>
          </a:prstGeom>
          <a:noFill/>
          <a:ln w="25400">
            <a:solidFill>
              <a:srgbClr val="2B6CB0"/>
            </a:solidFill>
            <a:prstDash val="solid"/>
          </a:ln>
        </p:spPr>
      </p:sp>
      <p:sp>
        <p:nvSpPr>
          <p:cNvPr id="29" name="Shape 22"/>
          <p:cNvSpPr/>
          <p:nvPr/>
        </p:nvSpPr>
        <p:spPr>
          <a:xfrm>
            <a:off x="365760" y="1645920"/>
            <a:ext cx="2103120" cy="10972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30" name="Shape 23"/>
          <p:cNvSpPr/>
          <p:nvPr/>
        </p:nvSpPr>
        <p:spPr>
          <a:xfrm>
            <a:off x="365760" y="1645920"/>
            <a:ext cx="54864" cy="1097280"/>
          </a:xfrm>
          <a:prstGeom prst="rect">
            <a:avLst/>
          </a:prstGeom>
          <a:solidFill>
            <a:srgbClr val="1A365D"/>
          </a:solidFill>
          <a:ln/>
        </p:spPr>
      </p:sp>
      <p:pic>
        <p:nvPicPr>
          <p:cNvPr id="31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94360" y="1783080"/>
            <a:ext cx="365760" cy="365760"/>
          </a:xfrm>
          <a:prstGeom prst="rect">
            <a:avLst/>
          </a:prstGeom>
        </p:spPr>
      </p:pic>
      <p:sp>
        <p:nvSpPr>
          <p:cNvPr id="32" name="Text 24"/>
          <p:cNvSpPr/>
          <p:nvPr/>
        </p:nvSpPr>
        <p:spPr>
          <a:xfrm>
            <a:off x="1005840" y="1737360"/>
            <a:ext cx="1371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202C"/>
                </a:solidFill>
              </a:rPr>
              <a:t>Web Browser</a:t>
            </a:r>
            <a:endParaRPr lang="en-US" sz="1300" dirty="0"/>
          </a:p>
          <a:p>
            <a:pPr indent="0" marL="0">
              <a:buNone/>
            </a:pPr>
            <a:r>
              <a:rPr lang="en-US" sz="1100" dirty="0">
                <a:solidFill>
                  <a:srgbClr val="4A5568"/>
                </a:solidFill>
              </a:rPr>
              <a:t>Admin / Teacher</a:t>
            </a:r>
            <a:endParaRPr lang="en-US" sz="1300" dirty="0"/>
          </a:p>
          <a:p>
            <a:pPr indent="0" marL="0">
              <a:buNone/>
            </a:pPr>
            <a:r>
              <a:rPr lang="en-US" sz="1100" dirty="0">
                <a:solidFill>
                  <a:srgbClr val="4A5568"/>
                </a:solidFill>
              </a:rPr>
              <a:t>Dashboard</a:t>
            </a:r>
            <a:endParaRPr lang="en-US" sz="1300" dirty="0"/>
          </a:p>
        </p:txBody>
      </p:sp>
      <p:sp>
        <p:nvSpPr>
          <p:cNvPr id="33" name="Shape 25"/>
          <p:cNvSpPr/>
          <p:nvPr/>
        </p:nvSpPr>
        <p:spPr>
          <a:xfrm>
            <a:off x="2468880" y="2194560"/>
            <a:ext cx="457200" cy="0"/>
          </a:xfrm>
          <a:prstGeom prst="line">
            <a:avLst/>
          </a:prstGeom>
          <a:noFill/>
          <a:ln w="25400">
            <a:solidFill>
              <a:srgbClr val="1A365D"/>
            </a:solidFill>
            <a:prstDash val="solid"/>
          </a:ln>
        </p:spPr>
      </p:sp>
      <p:sp>
        <p:nvSpPr>
          <p:cNvPr id="34" name="Text 26"/>
          <p:cNvSpPr/>
          <p:nvPr/>
        </p:nvSpPr>
        <p:spPr>
          <a:xfrm>
            <a:off x="2286000" y="32004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i="1" dirty="0">
                <a:solidFill>
                  <a:srgbClr val="A0AEC0"/>
                </a:solidFill>
              </a:rPr>
              <a:t>REST API + JWT</a:t>
            </a:r>
            <a:endParaRPr lang="en-US" sz="900" dirty="0"/>
          </a:p>
        </p:txBody>
      </p:sp>
      <p:sp>
        <p:nvSpPr>
          <p:cNvPr id="35" name="Text 27"/>
          <p:cNvSpPr/>
          <p:nvPr/>
        </p:nvSpPr>
        <p:spPr>
          <a:xfrm>
            <a:off x="457200" y="246888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i="1" dirty="0">
                <a:solidFill>
                  <a:srgbClr val="A0AEC0"/>
                </a:solidFill>
              </a:rPr>
              <a:t>HTTP + WebSocket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7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1A365D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137160"/>
            <a:ext cx="78638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KIẾN TRÚC CHI TIẾT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640080" y="1051560"/>
            <a:ext cx="7863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A0AE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Server MVC Pattern — Agent MVP + Signals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457200" y="1188720"/>
            <a:ext cx="4114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A365D"/>
                </a:solidFill>
              </a:rPr>
              <a:t>SERVER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457200" y="1691640"/>
            <a:ext cx="4114800" cy="6400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457200" y="1691640"/>
            <a:ext cx="54864" cy="640080"/>
          </a:xfrm>
          <a:prstGeom prst="rect">
            <a:avLst/>
          </a:prstGeom>
          <a:solidFill>
            <a:srgbClr val="2B6CB0"/>
          </a:solidFill>
          <a:ln/>
        </p:spPr>
      </p:sp>
      <p:sp>
        <p:nvSpPr>
          <p:cNvPr id="8" name="Text 6"/>
          <p:cNvSpPr/>
          <p:nvPr/>
        </p:nvSpPr>
        <p:spPr>
          <a:xfrm>
            <a:off x="685800" y="1737360"/>
            <a:ext cx="3749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202C"/>
                </a:solidFill>
              </a:rPr>
              <a:t>Controller</a:t>
            </a:r>
            <a:endParaRPr lang="en-US" sz="1400" dirty="0"/>
          </a:p>
          <a:p>
            <a:pPr indent="0" marL="0">
              <a:buNone/>
            </a:pPr>
            <a:r>
              <a:rPr lang="en-US" sz="1100" dirty="0">
                <a:solidFill>
                  <a:srgbClr val="4A5568"/>
                </a:solidFill>
              </a:rPr>
              <a:t>Nhận request, validate, trả response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2286000" y="2286000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A0AEC0"/>
                </a:solidFill>
              </a:rPr>
              <a:t>↓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457200" y="2468880"/>
            <a:ext cx="4114800" cy="6400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457200" y="2468880"/>
            <a:ext cx="54864" cy="640080"/>
          </a:xfrm>
          <a:prstGeom prst="rect">
            <a:avLst/>
          </a:prstGeom>
          <a:solidFill>
            <a:srgbClr val="319795"/>
          </a:solidFill>
          <a:ln/>
        </p:spPr>
      </p:sp>
      <p:sp>
        <p:nvSpPr>
          <p:cNvPr id="12" name="Text 10"/>
          <p:cNvSpPr/>
          <p:nvPr/>
        </p:nvSpPr>
        <p:spPr>
          <a:xfrm>
            <a:off x="685800" y="2514600"/>
            <a:ext cx="3749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202C"/>
                </a:solidFill>
              </a:rPr>
              <a:t>Service</a:t>
            </a:r>
            <a:endParaRPr lang="en-US" sz="1400" dirty="0"/>
          </a:p>
          <a:p>
            <a:pPr indent="0" marL="0">
              <a:buNone/>
            </a:pPr>
            <a:r>
              <a:rPr lang="en-US" sz="1100" dirty="0">
                <a:solidFill>
                  <a:srgbClr val="4A5568"/>
                </a:solidFill>
              </a:rPr>
              <a:t>Business logic, xử lý nghiệp vụ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2286000" y="3063240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A0AEC0"/>
                </a:solidFill>
              </a:rPr>
              <a:t>↓</a:t>
            </a:r>
            <a:endParaRPr lang="en-US" sz="1400" dirty="0"/>
          </a:p>
        </p:txBody>
      </p:sp>
      <p:sp>
        <p:nvSpPr>
          <p:cNvPr id="14" name="Shape 12"/>
          <p:cNvSpPr/>
          <p:nvPr/>
        </p:nvSpPr>
        <p:spPr>
          <a:xfrm>
            <a:off x="457200" y="3246120"/>
            <a:ext cx="4114800" cy="6400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457200" y="3246120"/>
            <a:ext cx="54864" cy="640080"/>
          </a:xfrm>
          <a:prstGeom prst="rect">
            <a:avLst/>
          </a:prstGeom>
          <a:solidFill>
            <a:srgbClr val="38A169"/>
          </a:solidFill>
          <a:ln/>
        </p:spPr>
      </p:sp>
      <p:sp>
        <p:nvSpPr>
          <p:cNvPr id="16" name="Text 14"/>
          <p:cNvSpPr/>
          <p:nvPr/>
        </p:nvSpPr>
        <p:spPr>
          <a:xfrm>
            <a:off x="685800" y="3291840"/>
            <a:ext cx="3749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202C"/>
                </a:solidFill>
              </a:rPr>
              <a:t>Model</a:t>
            </a:r>
            <a:endParaRPr lang="en-US" sz="1400" dirty="0"/>
          </a:p>
          <a:p>
            <a:pPr indent="0" marL="0">
              <a:buNone/>
            </a:pPr>
            <a:r>
              <a:rPr lang="en-US" sz="1100" dirty="0">
                <a:solidFill>
                  <a:srgbClr val="4A5568"/>
                </a:solidFill>
              </a:rPr>
              <a:t>CRUD operations với MongoDB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2286000" y="3840480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A0AEC0"/>
                </a:solidFill>
              </a:rPr>
              <a:t>↓</a:t>
            </a:r>
            <a:endParaRPr lang="en-US" sz="1400" dirty="0"/>
          </a:p>
        </p:txBody>
      </p:sp>
      <p:sp>
        <p:nvSpPr>
          <p:cNvPr id="18" name="Shape 16"/>
          <p:cNvSpPr/>
          <p:nvPr/>
        </p:nvSpPr>
        <p:spPr>
          <a:xfrm>
            <a:off x="457200" y="4023360"/>
            <a:ext cx="4114800" cy="6400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457200" y="4023360"/>
            <a:ext cx="54864" cy="640080"/>
          </a:xfrm>
          <a:prstGeom prst="rect">
            <a:avLst/>
          </a:prstGeom>
          <a:solidFill>
            <a:srgbClr val="DD6B20"/>
          </a:solidFill>
          <a:ln/>
        </p:spPr>
      </p:sp>
      <p:sp>
        <p:nvSpPr>
          <p:cNvPr id="20" name="Text 18"/>
          <p:cNvSpPr/>
          <p:nvPr/>
        </p:nvSpPr>
        <p:spPr>
          <a:xfrm>
            <a:off x="685800" y="4069080"/>
            <a:ext cx="3749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202C"/>
                </a:solidFill>
              </a:rPr>
              <a:t>Middleware</a:t>
            </a:r>
            <a:endParaRPr lang="en-US" sz="1400" dirty="0"/>
          </a:p>
          <a:p>
            <a:pPr indent="0" marL="0">
              <a:buNone/>
            </a:pPr>
            <a:r>
              <a:rPr lang="en-US" sz="1100" dirty="0">
                <a:solidFill>
                  <a:srgbClr val="4A5568"/>
                </a:solidFill>
              </a:rPr>
              <a:t>Auth (JWT/API Key) + RBAC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4846320" y="1188720"/>
            <a:ext cx="4114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A365D"/>
                </a:solidFill>
              </a:rPr>
              <a:t>AGENT</a:t>
            </a:r>
            <a:endParaRPr lang="en-US" sz="1600" dirty="0"/>
          </a:p>
        </p:txBody>
      </p:sp>
      <p:sp>
        <p:nvSpPr>
          <p:cNvPr id="22" name="Shape 20"/>
          <p:cNvSpPr/>
          <p:nvPr/>
        </p:nvSpPr>
        <p:spPr>
          <a:xfrm>
            <a:off x="4846320" y="1691640"/>
            <a:ext cx="3931920" cy="6400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4846320" y="1691640"/>
            <a:ext cx="54864" cy="640080"/>
          </a:xfrm>
          <a:prstGeom prst="rect">
            <a:avLst/>
          </a:prstGeom>
          <a:solidFill>
            <a:srgbClr val="2B6CB0"/>
          </a:solidFill>
          <a:ln/>
        </p:spPr>
      </p:sp>
      <p:sp>
        <p:nvSpPr>
          <p:cNvPr id="24" name="Text 22"/>
          <p:cNvSpPr/>
          <p:nvPr/>
        </p:nvSpPr>
        <p:spPr>
          <a:xfrm>
            <a:off x="5074920" y="1737360"/>
            <a:ext cx="3566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202C"/>
                </a:solidFill>
              </a:rPr>
              <a:t>GUI Views</a:t>
            </a:r>
            <a:endParaRPr lang="en-US" sz="1400" dirty="0"/>
          </a:p>
          <a:p>
            <a:pPr indent="0" marL="0">
              <a:buNone/>
            </a:pPr>
            <a:r>
              <a:rPr lang="en-US" sz="1100" dirty="0">
                <a:solidFill>
                  <a:srgbClr val="4A5568"/>
                </a:solidFill>
              </a:rPr>
              <a:t>Dashboard, Firewall, Whitelist, Logs, Settings</a:t>
            </a:r>
            <a:endParaRPr lang="en-US" sz="1400" dirty="0"/>
          </a:p>
        </p:txBody>
      </p:sp>
      <p:sp>
        <p:nvSpPr>
          <p:cNvPr id="25" name="Text 23"/>
          <p:cNvSpPr/>
          <p:nvPr/>
        </p:nvSpPr>
        <p:spPr>
          <a:xfrm>
            <a:off x="6583680" y="2286000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A0AEC0"/>
                </a:solidFill>
              </a:rPr>
              <a:t>↕</a:t>
            </a:r>
            <a:endParaRPr lang="en-US" sz="1400" dirty="0"/>
          </a:p>
        </p:txBody>
      </p:sp>
      <p:sp>
        <p:nvSpPr>
          <p:cNvPr id="26" name="Shape 24"/>
          <p:cNvSpPr/>
          <p:nvPr/>
        </p:nvSpPr>
        <p:spPr>
          <a:xfrm>
            <a:off x="4846320" y="2468880"/>
            <a:ext cx="3931920" cy="6400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27" name="Shape 25"/>
          <p:cNvSpPr/>
          <p:nvPr/>
        </p:nvSpPr>
        <p:spPr>
          <a:xfrm>
            <a:off x="4846320" y="2468880"/>
            <a:ext cx="54864" cy="640080"/>
          </a:xfrm>
          <a:prstGeom prst="rect">
            <a:avLst/>
          </a:prstGeom>
          <a:solidFill>
            <a:srgbClr val="319795"/>
          </a:solidFill>
          <a:ln/>
        </p:spPr>
      </p:sp>
      <p:sp>
        <p:nvSpPr>
          <p:cNvPr id="28" name="Text 26"/>
          <p:cNvSpPr/>
          <p:nvPr/>
        </p:nvSpPr>
        <p:spPr>
          <a:xfrm>
            <a:off x="5074920" y="2514600"/>
            <a:ext cx="3566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202C"/>
                </a:solidFill>
              </a:rPr>
              <a:t>AgentController</a:t>
            </a:r>
            <a:endParaRPr lang="en-US" sz="1400" dirty="0"/>
          </a:p>
          <a:p>
            <a:pPr indent="0" marL="0">
              <a:buNone/>
            </a:pPr>
            <a:r>
              <a:rPr lang="en-US" sz="1100" dirty="0">
                <a:solidFill>
                  <a:srgbClr val="4A5568"/>
                </a:solidFill>
              </a:rPr>
              <a:t>Singleton, Signals, background thread</a:t>
            </a:r>
            <a:endParaRPr lang="en-US" sz="1400" dirty="0"/>
          </a:p>
        </p:txBody>
      </p:sp>
      <p:sp>
        <p:nvSpPr>
          <p:cNvPr id="29" name="Text 27"/>
          <p:cNvSpPr/>
          <p:nvPr/>
        </p:nvSpPr>
        <p:spPr>
          <a:xfrm>
            <a:off x="6583680" y="3063240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A0AEC0"/>
                </a:solidFill>
              </a:rPr>
              <a:t>↕</a:t>
            </a:r>
            <a:endParaRPr lang="en-US" sz="1400" dirty="0"/>
          </a:p>
        </p:txBody>
      </p:sp>
      <p:sp>
        <p:nvSpPr>
          <p:cNvPr id="30" name="Shape 28"/>
          <p:cNvSpPr/>
          <p:nvPr/>
        </p:nvSpPr>
        <p:spPr>
          <a:xfrm>
            <a:off x="4846320" y="3246120"/>
            <a:ext cx="3931920" cy="6400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31" name="Shape 29"/>
          <p:cNvSpPr/>
          <p:nvPr/>
        </p:nvSpPr>
        <p:spPr>
          <a:xfrm>
            <a:off x="4846320" y="3246120"/>
            <a:ext cx="54864" cy="640080"/>
          </a:xfrm>
          <a:prstGeom prst="rect">
            <a:avLst/>
          </a:prstGeom>
          <a:solidFill>
            <a:srgbClr val="38A169"/>
          </a:solidFill>
          <a:ln/>
        </p:spPr>
      </p:sp>
      <p:sp>
        <p:nvSpPr>
          <p:cNvPr id="32" name="Text 30"/>
          <p:cNvSpPr/>
          <p:nvPr/>
        </p:nvSpPr>
        <p:spPr>
          <a:xfrm>
            <a:off x="5074920" y="3291840"/>
            <a:ext cx="3566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202C"/>
                </a:solidFill>
              </a:rPr>
              <a:t>Core Components</a:t>
            </a:r>
            <a:endParaRPr lang="en-US" sz="1400" dirty="0"/>
          </a:p>
          <a:p>
            <a:pPr indent="0" marL="0">
              <a:buNone/>
            </a:pPr>
            <a:r>
              <a:rPr lang="en-US" sz="1100" dirty="0">
                <a:solidFill>
                  <a:srgbClr val="4A5568"/>
                </a:solidFill>
              </a:rPr>
              <a:t>Firewall, Sniffer, Whitelist, DNS</a:t>
            </a:r>
            <a:endParaRPr lang="en-US" sz="1400" dirty="0"/>
          </a:p>
        </p:txBody>
      </p:sp>
      <p:sp>
        <p:nvSpPr>
          <p:cNvPr id="33" name="Text 31"/>
          <p:cNvSpPr/>
          <p:nvPr/>
        </p:nvSpPr>
        <p:spPr>
          <a:xfrm>
            <a:off x="6583680" y="3840480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A0AEC0"/>
                </a:solidFill>
              </a:rPr>
              <a:t>↕</a:t>
            </a:r>
            <a:endParaRPr lang="en-US" sz="1400" dirty="0"/>
          </a:p>
        </p:txBody>
      </p:sp>
      <p:sp>
        <p:nvSpPr>
          <p:cNvPr id="34" name="Shape 32"/>
          <p:cNvSpPr/>
          <p:nvPr/>
        </p:nvSpPr>
        <p:spPr>
          <a:xfrm>
            <a:off x="4846320" y="4023360"/>
            <a:ext cx="3931920" cy="6400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35" name="Shape 33"/>
          <p:cNvSpPr/>
          <p:nvPr/>
        </p:nvSpPr>
        <p:spPr>
          <a:xfrm>
            <a:off x="4846320" y="4023360"/>
            <a:ext cx="54864" cy="640080"/>
          </a:xfrm>
          <a:prstGeom prst="rect">
            <a:avLst/>
          </a:prstGeom>
          <a:solidFill>
            <a:srgbClr val="DD6B20"/>
          </a:solidFill>
          <a:ln/>
        </p:spPr>
      </p:sp>
      <p:sp>
        <p:nvSpPr>
          <p:cNvPr id="36" name="Text 34"/>
          <p:cNvSpPr/>
          <p:nvPr/>
        </p:nvSpPr>
        <p:spPr>
          <a:xfrm>
            <a:off x="5074920" y="4069080"/>
            <a:ext cx="3566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202C"/>
                </a:solidFill>
              </a:rPr>
              <a:t>Services</a:t>
            </a:r>
            <a:endParaRPr lang="en-US" sz="1400" dirty="0"/>
          </a:p>
          <a:p>
            <a:pPr indent="0" marL="0">
              <a:buNone/>
            </a:pPr>
            <a:r>
              <a:rPr lang="en-US" sz="1100" dirty="0">
                <a:solidFill>
                  <a:srgbClr val="4A5568"/>
                </a:solidFill>
              </a:rPr>
              <a:t>Heartbeat, LogSender, TokenManager</a:t>
            </a:r>
            <a:endParaRPr lang="en-US" sz="14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7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1A365D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137160"/>
            <a:ext cx="78638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CÔNG NGHỆ SỬ DỤNG — SERVER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457200" y="1188720"/>
            <a:ext cx="3931920" cy="10058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457200" y="1188720"/>
            <a:ext cx="54864" cy="1005840"/>
          </a:xfrm>
          <a:prstGeom prst="rect">
            <a:avLst/>
          </a:prstGeom>
          <a:solidFill>
            <a:srgbClr val="2B6CB0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85800" y="1463040"/>
            <a:ext cx="411480" cy="41148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234440" y="1325880"/>
            <a:ext cx="29260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A202C"/>
                </a:solidFill>
              </a:rPr>
              <a:t>Flask + Flask-SocketIO</a:t>
            </a:r>
            <a:endParaRPr lang="en-US" sz="1500" dirty="0"/>
          </a:p>
          <a:p>
            <a:pPr indent="0" marL="0">
              <a:buNone/>
            </a:pPr>
            <a:r>
              <a:rPr lang="en-US" sz="1100" dirty="0">
                <a:solidFill>
                  <a:srgbClr val="4A5568"/>
                </a:solidFill>
              </a:rPr>
              <a:t>Web framework + WebSocket real-time</a:t>
            </a:r>
            <a:endParaRPr lang="en-US" sz="1500" dirty="0"/>
          </a:p>
        </p:txBody>
      </p:sp>
      <p:sp>
        <p:nvSpPr>
          <p:cNvPr id="8" name="Shape 5"/>
          <p:cNvSpPr/>
          <p:nvPr/>
        </p:nvSpPr>
        <p:spPr>
          <a:xfrm>
            <a:off x="4754880" y="1188720"/>
            <a:ext cx="3931920" cy="10058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9" name="Shape 6"/>
          <p:cNvSpPr/>
          <p:nvPr/>
        </p:nvSpPr>
        <p:spPr>
          <a:xfrm>
            <a:off x="4754880" y="1188720"/>
            <a:ext cx="54864" cy="1005840"/>
          </a:xfrm>
          <a:prstGeom prst="rect">
            <a:avLst/>
          </a:prstGeom>
          <a:solidFill>
            <a:srgbClr val="319795"/>
          </a:solidFill>
          <a:ln/>
        </p:spPr>
      </p:sp>
      <p:pic>
        <p:nvPicPr>
          <p:cNvPr id="10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83480" y="1463040"/>
            <a:ext cx="411480" cy="411480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5532120" y="1325880"/>
            <a:ext cx="29260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A202C"/>
                </a:solidFill>
              </a:rPr>
              <a:t>MongoDB Atlas</a:t>
            </a:r>
            <a:endParaRPr lang="en-US" sz="1500" dirty="0"/>
          </a:p>
          <a:p>
            <a:pPr indent="0" marL="0">
              <a:buNone/>
            </a:pPr>
            <a:r>
              <a:rPr lang="en-US" sz="1100" dirty="0">
                <a:solidFill>
                  <a:srgbClr val="4A5568"/>
                </a:solidFill>
              </a:rPr>
              <a:t>NoSQL database đám mây, 12 collections</a:t>
            </a:r>
            <a:endParaRPr lang="en-US" sz="1500" dirty="0"/>
          </a:p>
        </p:txBody>
      </p:sp>
      <p:sp>
        <p:nvSpPr>
          <p:cNvPr id="12" name="Shape 8"/>
          <p:cNvSpPr/>
          <p:nvPr/>
        </p:nvSpPr>
        <p:spPr>
          <a:xfrm>
            <a:off x="457200" y="2377440"/>
            <a:ext cx="3931920" cy="10058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13" name="Shape 9"/>
          <p:cNvSpPr/>
          <p:nvPr/>
        </p:nvSpPr>
        <p:spPr>
          <a:xfrm>
            <a:off x="457200" y="2377440"/>
            <a:ext cx="54864" cy="1005840"/>
          </a:xfrm>
          <a:prstGeom prst="rect">
            <a:avLst/>
          </a:prstGeom>
          <a:solidFill>
            <a:srgbClr val="1A365D"/>
          </a:solidFill>
          <a:ln/>
        </p:spPr>
      </p:sp>
      <p:pic>
        <p:nvPicPr>
          <p:cNvPr id="14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5800" y="2651760"/>
            <a:ext cx="411480" cy="411480"/>
          </a:xfrm>
          <a:prstGeom prst="rect">
            <a:avLst/>
          </a:prstGeom>
        </p:spPr>
      </p:pic>
      <p:sp>
        <p:nvSpPr>
          <p:cNvPr id="15" name="Text 10"/>
          <p:cNvSpPr/>
          <p:nvPr/>
        </p:nvSpPr>
        <p:spPr>
          <a:xfrm>
            <a:off x="1234440" y="2514600"/>
            <a:ext cx="29260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A202C"/>
                </a:solidFill>
              </a:rPr>
              <a:t>JWT + API Key + bcrypt</a:t>
            </a:r>
            <a:endParaRPr lang="en-US" sz="1500" dirty="0"/>
          </a:p>
          <a:p>
            <a:pPr indent="0" marL="0">
              <a:buNone/>
            </a:pPr>
            <a:r>
              <a:rPr lang="en-US" sz="1100" dirty="0">
                <a:solidFill>
                  <a:srgbClr val="4A5568"/>
                </a:solidFill>
              </a:rPr>
              <a:t>Xác thực đa lớp, mã hóa mật khẩu</a:t>
            </a:r>
            <a:endParaRPr lang="en-US" sz="1500" dirty="0"/>
          </a:p>
        </p:txBody>
      </p:sp>
      <p:sp>
        <p:nvSpPr>
          <p:cNvPr id="16" name="Shape 11"/>
          <p:cNvSpPr/>
          <p:nvPr/>
        </p:nvSpPr>
        <p:spPr>
          <a:xfrm>
            <a:off x="4754880" y="2377440"/>
            <a:ext cx="3931920" cy="10058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17" name="Shape 12"/>
          <p:cNvSpPr/>
          <p:nvPr/>
        </p:nvSpPr>
        <p:spPr>
          <a:xfrm>
            <a:off x="4754880" y="2377440"/>
            <a:ext cx="54864" cy="1005840"/>
          </a:xfrm>
          <a:prstGeom prst="rect">
            <a:avLst/>
          </a:prstGeom>
          <a:solidFill>
            <a:srgbClr val="38A169"/>
          </a:solidFill>
          <a:ln/>
        </p:spPr>
      </p:sp>
      <p:pic>
        <p:nvPicPr>
          <p:cNvPr id="18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983480" y="2651760"/>
            <a:ext cx="411480" cy="411480"/>
          </a:xfrm>
          <a:prstGeom prst="rect">
            <a:avLst/>
          </a:prstGeom>
        </p:spPr>
      </p:pic>
      <p:sp>
        <p:nvSpPr>
          <p:cNvPr id="19" name="Text 13"/>
          <p:cNvSpPr/>
          <p:nvPr/>
        </p:nvSpPr>
        <p:spPr>
          <a:xfrm>
            <a:off x="5532120" y="2514600"/>
            <a:ext cx="29260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A202C"/>
                </a:solidFill>
              </a:rPr>
              <a:t>WebSocket (SocketIO)</a:t>
            </a:r>
            <a:endParaRPr lang="en-US" sz="1500" dirty="0"/>
          </a:p>
          <a:p>
            <a:pPr indent="0" marL="0">
              <a:buNone/>
            </a:pPr>
            <a:r>
              <a:rPr lang="en-US" sz="1100" dirty="0">
                <a:solidFill>
                  <a:srgbClr val="4A5568"/>
                </a:solidFill>
              </a:rPr>
              <a:t>Real-time notifications cho dashboard</a:t>
            </a:r>
            <a:endParaRPr lang="en-US" sz="1500" dirty="0"/>
          </a:p>
        </p:txBody>
      </p:sp>
      <p:sp>
        <p:nvSpPr>
          <p:cNvPr id="20" name="Shape 14"/>
          <p:cNvSpPr/>
          <p:nvPr/>
        </p:nvSpPr>
        <p:spPr>
          <a:xfrm>
            <a:off x="457200" y="3566160"/>
            <a:ext cx="3931920" cy="10058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21" name="Shape 15"/>
          <p:cNvSpPr/>
          <p:nvPr/>
        </p:nvSpPr>
        <p:spPr>
          <a:xfrm>
            <a:off x="457200" y="3566160"/>
            <a:ext cx="54864" cy="1005840"/>
          </a:xfrm>
          <a:prstGeom prst="rect">
            <a:avLst/>
          </a:prstGeom>
          <a:solidFill>
            <a:srgbClr val="DD6B20"/>
          </a:solidFill>
          <a:ln/>
        </p:spPr>
      </p:sp>
      <p:pic>
        <p:nvPicPr>
          <p:cNvPr id="22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85800" y="3840480"/>
            <a:ext cx="411480" cy="411480"/>
          </a:xfrm>
          <a:prstGeom prst="rect">
            <a:avLst/>
          </a:prstGeom>
        </p:spPr>
      </p:pic>
      <p:sp>
        <p:nvSpPr>
          <p:cNvPr id="23" name="Text 16"/>
          <p:cNvSpPr/>
          <p:nvPr/>
        </p:nvSpPr>
        <p:spPr>
          <a:xfrm>
            <a:off x="1234440" y="3703320"/>
            <a:ext cx="29260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A202C"/>
                </a:solidFill>
              </a:rPr>
              <a:t>Pydantic</a:t>
            </a:r>
            <a:endParaRPr lang="en-US" sz="1500" dirty="0"/>
          </a:p>
          <a:p>
            <a:pPr indent="0" marL="0">
              <a:buNone/>
            </a:pPr>
            <a:r>
              <a:rPr lang="en-US" sz="1100" dirty="0">
                <a:solidFill>
                  <a:srgbClr val="4A5568"/>
                </a:solidFill>
              </a:rPr>
              <a:t>Data validation &amp; serialization</a:t>
            </a:r>
            <a:endParaRPr lang="en-US" sz="1500" dirty="0"/>
          </a:p>
        </p:txBody>
      </p:sp>
      <p:sp>
        <p:nvSpPr>
          <p:cNvPr id="24" name="Shape 17"/>
          <p:cNvSpPr/>
          <p:nvPr/>
        </p:nvSpPr>
        <p:spPr>
          <a:xfrm>
            <a:off x="4754880" y="3566160"/>
            <a:ext cx="3931920" cy="10058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25" name="Shape 18"/>
          <p:cNvSpPr/>
          <p:nvPr/>
        </p:nvSpPr>
        <p:spPr>
          <a:xfrm>
            <a:off x="4754880" y="3566160"/>
            <a:ext cx="54864" cy="1005840"/>
          </a:xfrm>
          <a:prstGeom prst="rect">
            <a:avLst/>
          </a:prstGeom>
          <a:solidFill>
            <a:srgbClr val="E53E3E"/>
          </a:solidFill>
          <a:ln/>
        </p:spPr>
      </p:sp>
      <p:pic>
        <p:nvPicPr>
          <p:cNvPr id="26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983480" y="3840480"/>
            <a:ext cx="411480" cy="411480"/>
          </a:xfrm>
          <a:prstGeom prst="rect">
            <a:avLst/>
          </a:prstGeom>
        </p:spPr>
      </p:pic>
      <p:sp>
        <p:nvSpPr>
          <p:cNvPr id="27" name="Text 19"/>
          <p:cNvSpPr/>
          <p:nvPr/>
        </p:nvSpPr>
        <p:spPr>
          <a:xfrm>
            <a:off x="5532120" y="3703320"/>
            <a:ext cx="29260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A202C"/>
                </a:solidFill>
              </a:rPr>
              <a:t>RBAC Middleware</a:t>
            </a:r>
            <a:endParaRPr lang="en-US" sz="1500" dirty="0"/>
          </a:p>
          <a:p>
            <a:pPr indent="0" marL="0">
              <a:buNone/>
            </a:pPr>
            <a:r>
              <a:rPr lang="en-US" sz="1100" dirty="0">
                <a:solidFill>
                  <a:srgbClr val="4A5568"/>
                </a:solidFill>
              </a:rPr>
              <a:t>Phân quyền Admin/Teacher chi tiết</a:t>
            </a:r>
            <a:endParaRPr lang="en-US" sz="15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7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1A365D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137160"/>
            <a:ext cx="78638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CÔNG NGHỆ SỬ DỤNG — AGENT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457200" y="1188720"/>
            <a:ext cx="3931920" cy="10058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457200" y="1188720"/>
            <a:ext cx="54864" cy="1005840"/>
          </a:xfrm>
          <a:prstGeom prst="rect">
            <a:avLst/>
          </a:prstGeom>
          <a:solidFill>
            <a:srgbClr val="2B6CB0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85800" y="1463040"/>
            <a:ext cx="411480" cy="41148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234440" y="1325880"/>
            <a:ext cx="29260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A202C"/>
                </a:solidFill>
              </a:rPr>
              <a:t>CustomTkinter</a:t>
            </a:r>
            <a:endParaRPr lang="en-US" sz="1500" dirty="0"/>
          </a:p>
          <a:p>
            <a:pPr indent="0" marL="0">
              <a:buNone/>
            </a:pPr>
            <a:r>
              <a:rPr lang="en-US" sz="1100" dirty="0">
                <a:solidFill>
                  <a:srgbClr val="4A5568"/>
                </a:solidFill>
              </a:rPr>
              <a:t>GUI framework hiện đại cho Windows</a:t>
            </a:r>
            <a:endParaRPr lang="en-US" sz="1500" dirty="0"/>
          </a:p>
        </p:txBody>
      </p:sp>
      <p:sp>
        <p:nvSpPr>
          <p:cNvPr id="8" name="Shape 5"/>
          <p:cNvSpPr/>
          <p:nvPr/>
        </p:nvSpPr>
        <p:spPr>
          <a:xfrm>
            <a:off x="4754880" y="1188720"/>
            <a:ext cx="3931920" cy="10058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9" name="Shape 6"/>
          <p:cNvSpPr/>
          <p:nvPr/>
        </p:nvSpPr>
        <p:spPr>
          <a:xfrm>
            <a:off x="4754880" y="1188720"/>
            <a:ext cx="54864" cy="1005840"/>
          </a:xfrm>
          <a:prstGeom prst="rect">
            <a:avLst/>
          </a:prstGeom>
          <a:solidFill>
            <a:srgbClr val="319795"/>
          </a:solidFill>
          <a:ln/>
        </p:spPr>
      </p:sp>
      <p:pic>
        <p:nvPicPr>
          <p:cNvPr id="10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83480" y="1463040"/>
            <a:ext cx="411480" cy="411480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5532120" y="1325880"/>
            <a:ext cx="29260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A202C"/>
                </a:solidFill>
              </a:rPr>
              <a:t>Scapy + WinPcap</a:t>
            </a:r>
            <a:endParaRPr lang="en-US" sz="1500" dirty="0"/>
          </a:p>
          <a:p>
            <a:pPr indent="0" marL="0">
              <a:buNone/>
            </a:pPr>
            <a:r>
              <a:rPr lang="en-US" sz="1100" dirty="0">
                <a:solidFill>
                  <a:srgbClr val="4A5568"/>
                </a:solidFill>
              </a:rPr>
              <a:t>Bắt gói tin TCP 80/443/53</a:t>
            </a:r>
            <a:endParaRPr lang="en-US" sz="1500" dirty="0"/>
          </a:p>
        </p:txBody>
      </p:sp>
      <p:sp>
        <p:nvSpPr>
          <p:cNvPr id="12" name="Shape 8"/>
          <p:cNvSpPr/>
          <p:nvPr/>
        </p:nvSpPr>
        <p:spPr>
          <a:xfrm>
            <a:off x="457200" y="2377440"/>
            <a:ext cx="3931920" cy="10058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13" name="Shape 9"/>
          <p:cNvSpPr/>
          <p:nvPr/>
        </p:nvSpPr>
        <p:spPr>
          <a:xfrm>
            <a:off x="457200" y="2377440"/>
            <a:ext cx="54864" cy="1005840"/>
          </a:xfrm>
          <a:prstGeom prst="rect">
            <a:avLst/>
          </a:prstGeom>
          <a:solidFill>
            <a:srgbClr val="38A169"/>
          </a:solidFill>
          <a:ln/>
        </p:spPr>
      </p:sp>
      <p:pic>
        <p:nvPicPr>
          <p:cNvPr id="14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5800" y="2651760"/>
            <a:ext cx="411480" cy="411480"/>
          </a:xfrm>
          <a:prstGeom prst="rect">
            <a:avLst/>
          </a:prstGeom>
        </p:spPr>
      </p:pic>
      <p:sp>
        <p:nvSpPr>
          <p:cNvPr id="15" name="Text 10"/>
          <p:cNvSpPr/>
          <p:nvPr/>
        </p:nvSpPr>
        <p:spPr>
          <a:xfrm>
            <a:off x="1234440" y="2514600"/>
            <a:ext cx="29260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A202C"/>
                </a:solidFill>
              </a:rPr>
              <a:t>dnspython + aiodns</a:t>
            </a:r>
            <a:endParaRPr lang="en-US" sz="1500" dirty="0"/>
          </a:p>
          <a:p>
            <a:pPr indent="0" marL="0">
              <a:buNone/>
            </a:pPr>
            <a:r>
              <a:rPr lang="en-US" sz="1100" dirty="0">
                <a:solidFill>
                  <a:srgbClr val="4A5568"/>
                </a:solidFill>
              </a:rPr>
              <a:t>DNS resolution song song, async</a:t>
            </a:r>
            <a:endParaRPr lang="en-US" sz="1500" dirty="0"/>
          </a:p>
        </p:txBody>
      </p:sp>
      <p:sp>
        <p:nvSpPr>
          <p:cNvPr id="16" name="Shape 11"/>
          <p:cNvSpPr/>
          <p:nvPr/>
        </p:nvSpPr>
        <p:spPr>
          <a:xfrm>
            <a:off x="4754880" y="2377440"/>
            <a:ext cx="3931920" cy="10058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17" name="Shape 12"/>
          <p:cNvSpPr/>
          <p:nvPr/>
        </p:nvSpPr>
        <p:spPr>
          <a:xfrm>
            <a:off x="4754880" y="2377440"/>
            <a:ext cx="54864" cy="1005840"/>
          </a:xfrm>
          <a:prstGeom prst="rect">
            <a:avLst/>
          </a:prstGeom>
          <a:solidFill>
            <a:srgbClr val="E53E3E"/>
          </a:solidFill>
          <a:ln/>
        </p:spPr>
      </p:sp>
      <p:pic>
        <p:nvPicPr>
          <p:cNvPr id="18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983480" y="2651760"/>
            <a:ext cx="411480" cy="411480"/>
          </a:xfrm>
          <a:prstGeom prst="rect">
            <a:avLst/>
          </a:prstGeom>
        </p:spPr>
      </p:pic>
      <p:sp>
        <p:nvSpPr>
          <p:cNvPr id="19" name="Text 13"/>
          <p:cNvSpPr/>
          <p:nvPr/>
        </p:nvSpPr>
        <p:spPr>
          <a:xfrm>
            <a:off x="5532120" y="2514600"/>
            <a:ext cx="29260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A202C"/>
                </a:solidFill>
              </a:rPr>
              <a:t>netsh Windows Firewall</a:t>
            </a:r>
            <a:endParaRPr lang="en-US" sz="1500" dirty="0"/>
          </a:p>
          <a:p>
            <a:pPr indent="0" marL="0">
              <a:buNone/>
            </a:pPr>
            <a:r>
              <a:rPr lang="en-US" sz="1100" dirty="0">
                <a:solidFill>
                  <a:srgbClr val="4A5568"/>
                </a:solidFill>
              </a:rPr>
              <a:t>Tạo/xóa rules tự động</a:t>
            </a:r>
            <a:endParaRPr lang="en-US" sz="1500" dirty="0"/>
          </a:p>
        </p:txBody>
      </p:sp>
      <p:sp>
        <p:nvSpPr>
          <p:cNvPr id="20" name="Shape 14"/>
          <p:cNvSpPr/>
          <p:nvPr/>
        </p:nvSpPr>
        <p:spPr>
          <a:xfrm>
            <a:off x="457200" y="3566160"/>
            <a:ext cx="3931920" cy="10058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21" name="Shape 15"/>
          <p:cNvSpPr/>
          <p:nvPr/>
        </p:nvSpPr>
        <p:spPr>
          <a:xfrm>
            <a:off x="457200" y="3566160"/>
            <a:ext cx="54864" cy="1005840"/>
          </a:xfrm>
          <a:prstGeom prst="rect">
            <a:avLst/>
          </a:prstGeom>
          <a:solidFill>
            <a:srgbClr val="DD6B20"/>
          </a:solidFill>
          <a:ln/>
        </p:spPr>
      </p:sp>
      <p:pic>
        <p:nvPicPr>
          <p:cNvPr id="22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85800" y="3840480"/>
            <a:ext cx="411480" cy="411480"/>
          </a:xfrm>
          <a:prstGeom prst="rect">
            <a:avLst/>
          </a:prstGeom>
        </p:spPr>
      </p:pic>
      <p:sp>
        <p:nvSpPr>
          <p:cNvPr id="23" name="Text 16"/>
          <p:cNvSpPr/>
          <p:nvPr/>
        </p:nvSpPr>
        <p:spPr>
          <a:xfrm>
            <a:off x="1234440" y="3703320"/>
            <a:ext cx="29260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A202C"/>
                </a:solidFill>
              </a:rPr>
              <a:t>PyInstaller</a:t>
            </a:r>
            <a:endParaRPr lang="en-US" sz="1500" dirty="0"/>
          </a:p>
          <a:p>
            <a:pPr indent="0" marL="0">
              <a:buNone/>
            </a:pPr>
            <a:r>
              <a:rPr lang="en-US" sz="1100" dirty="0">
                <a:solidFill>
                  <a:srgbClr val="4A5568"/>
                </a:solidFill>
              </a:rPr>
              <a:t>Build thành SAINT.exe executable</a:t>
            </a:r>
            <a:endParaRPr lang="en-US" sz="1500" dirty="0"/>
          </a:p>
        </p:txBody>
      </p:sp>
      <p:sp>
        <p:nvSpPr>
          <p:cNvPr id="24" name="Shape 17"/>
          <p:cNvSpPr/>
          <p:nvPr/>
        </p:nvSpPr>
        <p:spPr>
          <a:xfrm>
            <a:off x="4754880" y="3566160"/>
            <a:ext cx="3931920" cy="10058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25" name="Shape 18"/>
          <p:cNvSpPr/>
          <p:nvPr/>
        </p:nvSpPr>
        <p:spPr>
          <a:xfrm>
            <a:off x="4754880" y="3566160"/>
            <a:ext cx="54864" cy="1005840"/>
          </a:xfrm>
          <a:prstGeom prst="rect">
            <a:avLst/>
          </a:prstGeom>
          <a:solidFill>
            <a:srgbClr val="1A365D"/>
          </a:solidFill>
          <a:ln/>
        </p:spPr>
      </p:sp>
      <p:pic>
        <p:nvPicPr>
          <p:cNvPr id="26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983480" y="3840480"/>
            <a:ext cx="411480" cy="411480"/>
          </a:xfrm>
          <a:prstGeom prst="rect">
            <a:avLst/>
          </a:prstGeom>
        </p:spPr>
      </p:pic>
      <p:sp>
        <p:nvSpPr>
          <p:cNvPr id="27" name="Text 19"/>
          <p:cNvSpPr/>
          <p:nvPr/>
        </p:nvSpPr>
        <p:spPr>
          <a:xfrm>
            <a:off x="5532120" y="3703320"/>
            <a:ext cx="29260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A202C"/>
                </a:solidFill>
              </a:rPr>
              <a:t>cryptography</a:t>
            </a:r>
            <a:endParaRPr lang="en-US" sz="1500" dirty="0"/>
          </a:p>
          <a:p>
            <a:pPr indent="0" marL="0">
              <a:buNone/>
            </a:pPr>
            <a:r>
              <a:rPr lang="en-US" sz="1100" dirty="0">
                <a:solidFill>
                  <a:srgbClr val="4A5568"/>
                </a:solidFill>
              </a:rPr>
              <a:t>Mã hóa file cấu hình nhạy cảm</a:t>
            </a:r>
            <a:endParaRPr lang="en-US" sz="15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7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1A365D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137160"/>
            <a:ext cx="78638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THIẾT KẾ DATABASE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640080" y="1051560"/>
            <a:ext cx="7863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A0AE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MongoDB Atlas — 12 Collections</a:t>
            </a:r>
            <a:endParaRPr lang="en-US" sz="1400" dirty="0"/>
          </a:p>
        </p:txBody>
      </p:sp>
      <p:graphicFrame>
        <p:nvGraphicFramePr>
          <p:cNvPr id="10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097280"/>
          <a:ext cx="8229600" cy="914400"/>
        </p:xfrm>
        <a:graphic>
          <a:graphicData uri="http://schemas.openxmlformats.org/drawingml/2006/table">
            <a:tbl>
              <a:tblPr/>
              <a:tblGrid>
                <a:gridCol w="1645920"/>
                <a:gridCol w="2286000"/>
                <a:gridCol w="4297680"/>
              </a:tblGrid>
              <a:tr h="3200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Collection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365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Mô tả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365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Dữ liệu chính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365D"/>
                    </a:solidFill>
                  </a:tcPr>
                </a:tc>
              </a:tr>
              <a:tr h="30175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agents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Thông tin Agent đã đăng ký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agent_id, hostname, IP, status, heartbeat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0175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whitelists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Domain/IP được phép truy cập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value, type, scope, group_id, is_active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0175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groups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Nhóm Agent (lớp/phòng lab)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name, whitelist[], teacher_ids, version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0175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logs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Logs hoạt động mạng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agent_id, action, domain, timestamp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0175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users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Tài khoản Admin/Teacher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username, role, password_hash, locked_until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0175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admin_sessions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Phiên đăng nhập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user_id, token_jti, expires_at, is_revoked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0175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api_keys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API Key đăng ký Agent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key_hash, permissions, expires_at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0175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agent_policies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Chính sách riêng Agent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override_mode, custom_whitelist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0175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whitelist_profiles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Whitelist mẫu Teacher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group_id, teacher_id, domains[], is_active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0175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audit_logs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Lịch sử hành động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user_id, action, resource, timestamp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7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1A365D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137160"/>
            <a:ext cx="78638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THIẾT KẾ API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640080" y="1051560"/>
            <a:ext cx="7863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A0AE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~50 REST API Endpoints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457200" y="1143000"/>
            <a:ext cx="3931920" cy="82296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457200" y="1143000"/>
            <a:ext cx="54864" cy="822960"/>
          </a:xfrm>
          <a:prstGeom prst="rect">
            <a:avLst/>
          </a:prstGeom>
          <a:solidFill>
            <a:srgbClr val="2B6CB0"/>
          </a:solidFill>
          <a:ln/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40080" y="1344168"/>
            <a:ext cx="365760" cy="365760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1143000" y="1234440"/>
            <a:ext cx="30175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202C"/>
                </a:solidFill>
              </a:rPr>
              <a:t>Agent API  </a:t>
            </a:r>
            <a:pPr indent="0" marL="0">
              <a:buNone/>
            </a:pPr>
            <a:r>
              <a:rPr lang="en-US" sz="1000" dirty="0">
                <a:solidFill>
                  <a:srgbClr val="A0AEC0"/>
                </a:solidFill>
              </a:rPr>
              <a:t>3 endpoints</a:t>
            </a:r>
            <a:endParaRPr lang="en-US" sz="1300" dirty="0"/>
          </a:p>
          <a:p>
            <a:pPr indent="0" marL="0">
              <a:buNone/>
            </a:pPr>
            <a:r>
              <a:rPr lang="en-US" sz="1000" dirty="0">
                <a:solidFill>
                  <a:srgbClr val="4A5568"/>
                </a:solidFill>
              </a:rPr>
              <a:t>register, heartbeat, sync</a:t>
            </a:r>
            <a:endParaRPr lang="en-US" sz="1300" dirty="0"/>
          </a:p>
        </p:txBody>
      </p:sp>
      <p:sp>
        <p:nvSpPr>
          <p:cNvPr id="9" name="Shape 6"/>
          <p:cNvSpPr/>
          <p:nvPr/>
        </p:nvSpPr>
        <p:spPr>
          <a:xfrm>
            <a:off x="4754880" y="1143000"/>
            <a:ext cx="3931920" cy="82296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4754880" y="1143000"/>
            <a:ext cx="54864" cy="822960"/>
          </a:xfrm>
          <a:prstGeom prst="rect">
            <a:avLst/>
          </a:prstGeom>
          <a:solidFill>
            <a:srgbClr val="319795"/>
          </a:solidFill>
          <a:ln/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37760" y="1344168"/>
            <a:ext cx="365760" cy="365760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5440680" y="1234440"/>
            <a:ext cx="30175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202C"/>
                </a:solidFill>
              </a:rPr>
              <a:t>Whitelist API  </a:t>
            </a:r>
            <a:pPr indent="0" marL="0">
              <a:buNone/>
            </a:pPr>
            <a:r>
              <a:rPr lang="en-US" sz="1000" dirty="0">
                <a:solidFill>
                  <a:srgbClr val="A0AEC0"/>
                </a:solidFill>
              </a:rPr>
              <a:t>10 endpoints</a:t>
            </a:r>
            <a:endParaRPr lang="en-US" sz="1300" dirty="0"/>
          </a:p>
          <a:p>
            <a:pPr indent="0" marL="0">
              <a:buNone/>
            </a:pPr>
            <a:r>
              <a:rPr lang="en-US" sz="1000" dirty="0">
                <a:solidFill>
                  <a:srgbClr val="4A5568"/>
                </a:solidFill>
              </a:rPr>
              <a:t>CRUD, bulk, import/export, sync</a:t>
            </a:r>
            <a:endParaRPr lang="en-US" sz="1300" dirty="0"/>
          </a:p>
        </p:txBody>
      </p:sp>
      <p:sp>
        <p:nvSpPr>
          <p:cNvPr id="13" name="Shape 9"/>
          <p:cNvSpPr/>
          <p:nvPr/>
        </p:nvSpPr>
        <p:spPr>
          <a:xfrm>
            <a:off x="457200" y="2103120"/>
            <a:ext cx="3931920" cy="82296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14" name="Shape 10"/>
          <p:cNvSpPr/>
          <p:nvPr/>
        </p:nvSpPr>
        <p:spPr>
          <a:xfrm>
            <a:off x="457200" y="2103120"/>
            <a:ext cx="54864" cy="822960"/>
          </a:xfrm>
          <a:prstGeom prst="rect">
            <a:avLst/>
          </a:prstGeom>
          <a:solidFill>
            <a:srgbClr val="38A169"/>
          </a:solidFill>
          <a:ln/>
        </p:spPr>
      </p:sp>
      <p:pic>
        <p:nvPicPr>
          <p:cNvPr id="15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0080" y="2304288"/>
            <a:ext cx="365760" cy="365760"/>
          </a:xfrm>
          <a:prstGeom prst="rect">
            <a:avLst/>
          </a:prstGeom>
        </p:spPr>
      </p:pic>
      <p:sp>
        <p:nvSpPr>
          <p:cNvPr id="16" name="Text 11"/>
          <p:cNvSpPr/>
          <p:nvPr/>
        </p:nvSpPr>
        <p:spPr>
          <a:xfrm>
            <a:off x="1143000" y="2194560"/>
            <a:ext cx="30175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202C"/>
                </a:solidFill>
              </a:rPr>
              <a:t>Group API  </a:t>
            </a:r>
            <a:pPr indent="0" marL="0">
              <a:buNone/>
            </a:pPr>
            <a:r>
              <a:rPr lang="en-US" sz="1000" dirty="0">
                <a:solidFill>
                  <a:srgbClr val="A0AEC0"/>
                </a:solidFill>
              </a:rPr>
              <a:t>6 endpoints</a:t>
            </a:r>
            <a:endParaRPr lang="en-US" sz="1300" dirty="0"/>
          </a:p>
          <a:p>
            <a:pPr indent="0" marL="0">
              <a:buNone/>
            </a:pPr>
            <a:r>
              <a:rPr lang="en-US" sz="1000" dirty="0">
                <a:solidFill>
                  <a:srgbClr val="4A5568"/>
                </a:solidFill>
              </a:rPr>
              <a:t>CRUD, assign teachers, profiles</a:t>
            </a:r>
            <a:endParaRPr lang="en-US" sz="1300" dirty="0"/>
          </a:p>
        </p:txBody>
      </p:sp>
      <p:sp>
        <p:nvSpPr>
          <p:cNvPr id="17" name="Shape 12"/>
          <p:cNvSpPr/>
          <p:nvPr/>
        </p:nvSpPr>
        <p:spPr>
          <a:xfrm>
            <a:off x="4754880" y="2103120"/>
            <a:ext cx="3931920" cy="82296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18" name="Shape 13"/>
          <p:cNvSpPr/>
          <p:nvPr/>
        </p:nvSpPr>
        <p:spPr>
          <a:xfrm>
            <a:off x="4754880" y="2103120"/>
            <a:ext cx="54864" cy="822960"/>
          </a:xfrm>
          <a:prstGeom prst="rect">
            <a:avLst/>
          </a:prstGeom>
          <a:solidFill>
            <a:srgbClr val="1A365D"/>
          </a:solidFill>
          <a:ln/>
        </p:spPr>
      </p:sp>
      <p:pic>
        <p:nvPicPr>
          <p:cNvPr id="19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937760" y="2304288"/>
            <a:ext cx="365760" cy="365760"/>
          </a:xfrm>
          <a:prstGeom prst="rect">
            <a:avLst/>
          </a:prstGeom>
        </p:spPr>
      </p:pic>
      <p:sp>
        <p:nvSpPr>
          <p:cNvPr id="20" name="Text 14"/>
          <p:cNvSpPr/>
          <p:nvPr/>
        </p:nvSpPr>
        <p:spPr>
          <a:xfrm>
            <a:off x="5440680" y="2194560"/>
            <a:ext cx="30175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202C"/>
                </a:solidFill>
              </a:rPr>
              <a:t>Auth API  </a:t>
            </a:r>
            <a:pPr indent="0" marL="0">
              <a:buNone/>
            </a:pPr>
            <a:r>
              <a:rPr lang="en-US" sz="1000" dirty="0">
                <a:solidFill>
                  <a:srgbClr val="A0AEC0"/>
                </a:solidFill>
              </a:rPr>
              <a:t>6 endpoints</a:t>
            </a:r>
            <a:endParaRPr lang="en-US" sz="1300" dirty="0"/>
          </a:p>
          <a:p>
            <a:pPr indent="0" marL="0">
              <a:buNone/>
            </a:pPr>
            <a:r>
              <a:rPr lang="en-US" sz="1000" dirty="0">
                <a:solidFill>
                  <a:srgbClr val="4A5568"/>
                </a:solidFill>
              </a:rPr>
              <a:t>login, logout, refresh, verify</a:t>
            </a:r>
            <a:endParaRPr lang="en-US" sz="1300" dirty="0"/>
          </a:p>
        </p:txBody>
      </p:sp>
      <p:sp>
        <p:nvSpPr>
          <p:cNvPr id="21" name="Shape 15"/>
          <p:cNvSpPr/>
          <p:nvPr/>
        </p:nvSpPr>
        <p:spPr>
          <a:xfrm>
            <a:off x="457200" y="3063240"/>
            <a:ext cx="3931920" cy="82296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22" name="Shape 16"/>
          <p:cNvSpPr/>
          <p:nvPr/>
        </p:nvSpPr>
        <p:spPr>
          <a:xfrm>
            <a:off x="457200" y="3063240"/>
            <a:ext cx="54864" cy="822960"/>
          </a:xfrm>
          <a:prstGeom prst="rect">
            <a:avLst/>
          </a:prstGeom>
          <a:solidFill>
            <a:srgbClr val="DD6B20"/>
          </a:solidFill>
          <a:ln/>
        </p:spPr>
      </p:sp>
      <p:pic>
        <p:nvPicPr>
          <p:cNvPr id="23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40080" y="3264408"/>
            <a:ext cx="365760" cy="365760"/>
          </a:xfrm>
          <a:prstGeom prst="rect">
            <a:avLst/>
          </a:prstGeom>
        </p:spPr>
      </p:pic>
      <p:sp>
        <p:nvSpPr>
          <p:cNvPr id="24" name="Text 17"/>
          <p:cNvSpPr/>
          <p:nvPr/>
        </p:nvSpPr>
        <p:spPr>
          <a:xfrm>
            <a:off x="1143000" y="3154680"/>
            <a:ext cx="30175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202C"/>
                </a:solidFill>
              </a:rPr>
              <a:t>User API  </a:t>
            </a:r>
            <a:pPr indent="0" marL="0">
              <a:buNone/>
            </a:pPr>
            <a:r>
              <a:rPr lang="en-US" sz="1000" dirty="0">
                <a:solidFill>
                  <a:srgbClr val="A0AEC0"/>
                </a:solidFill>
              </a:rPr>
              <a:t>7 endpoints</a:t>
            </a:r>
            <a:endParaRPr lang="en-US" sz="1300" dirty="0"/>
          </a:p>
          <a:p>
            <a:pPr indent="0" marL="0">
              <a:buNone/>
            </a:pPr>
            <a:r>
              <a:rPr lang="en-US" sz="1000" dirty="0">
                <a:solidFill>
                  <a:srgbClr val="4A5568"/>
                </a:solidFill>
              </a:rPr>
              <a:t>CRUD, reset password, statistics</a:t>
            </a:r>
            <a:endParaRPr lang="en-US" sz="1300" dirty="0"/>
          </a:p>
        </p:txBody>
      </p:sp>
      <p:sp>
        <p:nvSpPr>
          <p:cNvPr id="25" name="Shape 18"/>
          <p:cNvSpPr/>
          <p:nvPr/>
        </p:nvSpPr>
        <p:spPr>
          <a:xfrm>
            <a:off x="4754880" y="3063240"/>
            <a:ext cx="3931920" cy="82296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26" name="Shape 19"/>
          <p:cNvSpPr/>
          <p:nvPr/>
        </p:nvSpPr>
        <p:spPr>
          <a:xfrm>
            <a:off x="4754880" y="3063240"/>
            <a:ext cx="54864" cy="822960"/>
          </a:xfrm>
          <a:prstGeom prst="rect">
            <a:avLst/>
          </a:prstGeom>
          <a:solidFill>
            <a:srgbClr val="E53E3E"/>
          </a:solidFill>
          <a:ln/>
        </p:spPr>
      </p:sp>
      <p:pic>
        <p:nvPicPr>
          <p:cNvPr id="27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937760" y="3264408"/>
            <a:ext cx="365760" cy="365760"/>
          </a:xfrm>
          <a:prstGeom prst="rect">
            <a:avLst/>
          </a:prstGeom>
        </p:spPr>
      </p:pic>
      <p:sp>
        <p:nvSpPr>
          <p:cNvPr id="28" name="Text 20"/>
          <p:cNvSpPr/>
          <p:nvPr/>
        </p:nvSpPr>
        <p:spPr>
          <a:xfrm>
            <a:off x="5440680" y="3154680"/>
            <a:ext cx="30175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202C"/>
                </a:solidFill>
              </a:rPr>
              <a:t>API Key API  </a:t>
            </a:r>
            <a:pPr indent="0" marL="0">
              <a:buNone/>
            </a:pPr>
            <a:r>
              <a:rPr lang="en-US" sz="1000" dirty="0">
                <a:solidFill>
                  <a:srgbClr val="A0AEC0"/>
                </a:solidFill>
              </a:rPr>
              <a:t>8 endpoints</a:t>
            </a:r>
            <a:endParaRPr lang="en-US" sz="1300" dirty="0"/>
          </a:p>
          <a:p>
            <a:pPr indent="0" marL="0">
              <a:buNone/>
            </a:pPr>
            <a:r>
              <a:rPr lang="en-US" sz="1000" dirty="0">
                <a:solidFill>
                  <a:srgbClr val="4A5568"/>
                </a:solidFill>
              </a:rPr>
              <a:t>CRUD, revoke, validate, stats</a:t>
            </a:r>
            <a:endParaRPr lang="en-US" sz="1300" dirty="0"/>
          </a:p>
        </p:txBody>
      </p:sp>
      <p:sp>
        <p:nvSpPr>
          <p:cNvPr id="29" name="Shape 21"/>
          <p:cNvSpPr/>
          <p:nvPr/>
        </p:nvSpPr>
        <p:spPr>
          <a:xfrm>
            <a:off x="457200" y="4023360"/>
            <a:ext cx="3931920" cy="82296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30" name="Shape 22"/>
          <p:cNvSpPr/>
          <p:nvPr/>
        </p:nvSpPr>
        <p:spPr>
          <a:xfrm>
            <a:off x="457200" y="4023360"/>
            <a:ext cx="54864" cy="822960"/>
          </a:xfrm>
          <a:prstGeom prst="rect">
            <a:avLst/>
          </a:prstGeom>
          <a:solidFill>
            <a:srgbClr val="4A5568"/>
          </a:solidFill>
          <a:ln/>
        </p:spPr>
      </p:sp>
      <p:pic>
        <p:nvPicPr>
          <p:cNvPr id="31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40080" y="4224528"/>
            <a:ext cx="365760" cy="365760"/>
          </a:xfrm>
          <a:prstGeom prst="rect">
            <a:avLst/>
          </a:prstGeom>
        </p:spPr>
      </p:pic>
      <p:sp>
        <p:nvSpPr>
          <p:cNvPr id="32" name="Text 23"/>
          <p:cNvSpPr/>
          <p:nvPr/>
        </p:nvSpPr>
        <p:spPr>
          <a:xfrm>
            <a:off x="1143000" y="4114800"/>
            <a:ext cx="30175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202C"/>
                </a:solidFill>
              </a:rPr>
              <a:t>Audit API  </a:t>
            </a:r>
            <a:pPr indent="0" marL="0">
              <a:buNone/>
            </a:pPr>
            <a:r>
              <a:rPr lang="en-US" sz="1000" dirty="0">
                <a:solidFill>
                  <a:srgbClr val="A0AEC0"/>
                </a:solidFill>
              </a:rPr>
              <a:t>2 endpoints</a:t>
            </a:r>
            <a:endParaRPr lang="en-US" sz="1300" dirty="0"/>
          </a:p>
          <a:p>
            <a:pPr indent="0" marL="0">
              <a:buNone/>
            </a:pPr>
            <a:r>
              <a:rPr lang="en-US" sz="1000" dirty="0">
                <a:solidFill>
                  <a:srgbClr val="4A5568"/>
                </a:solidFill>
              </a:rPr>
              <a:t>List audit logs, user history</a:t>
            </a:r>
            <a:endParaRPr lang="en-US" sz="1300" dirty="0"/>
          </a:p>
        </p:txBody>
      </p:sp>
      <p:sp>
        <p:nvSpPr>
          <p:cNvPr id="33" name="Shape 24"/>
          <p:cNvSpPr/>
          <p:nvPr/>
        </p:nvSpPr>
        <p:spPr>
          <a:xfrm>
            <a:off x="4754880" y="4023360"/>
            <a:ext cx="3931920" cy="82296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34" name="Shape 25"/>
          <p:cNvSpPr/>
          <p:nvPr/>
        </p:nvSpPr>
        <p:spPr>
          <a:xfrm>
            <a:off x="4754880" y="4023360"/>
            <a:ext cx="54864" cy="822960"/>
          </a:xfrm>
          <a:prstGeom prst="rect">
            <a:avLst/>
          </a:prstGeom>
          <a:solidFill>
            <a:srgbClr val="3182CE"/>
          </a:solidFill>
          <a:ln/>
        </p:spPr>
      </p:sp>
      <p:pic>
        <p:nvPicPr>
          <p:cNvPr id="35" name="Image 7" descr="preencoded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4937760" y="4224528"/>
            <a:ext cx="365760" cy="365760"/>
          </a:xfrm>
          <a:prstGeom prst="rect">
            <a:avLst/>
          </a:prstGeom>
        </p:spPr>
      </p:pic>
      <p:sp>
        <p:nvSpPr>
          <p:cNvPr id="36" name="Text 26"/>
          <p:cNvSpPr/>
          <p:nvPr/>
        </p:nvSpPr>
        <p:spPr>
          <a:xfrm>
            <a:off x="5440680" y="4114800"/>
            <a:ext cx="30175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202C"/>
                </a:solidFill>
              </a:rPr>
              <a:t>Profile API  </a:t>
            </a:r>
            <a:pPr indent="0" marL="0">
              <a:buNone/>
            </a:pPr>
            <a:r>
              <a:rPr lang="en-US" sz="1000" dirty="0">
                <a:solidFill>
                  <a:srgbClr val="A0AEC0"/>
                </a:solidFill>
              </a:rPr>
              <a:t>7 endpoints</a:t>
            </a:r>
            <a:endParaRPr lang="en-US" sz="1300" dirty="0"/>
          </a:p>
          <a:p>
            <a:pPr indent="0" marL="0">
              <a:buNone/>
            </a:pPr>
            <a:r>
              <a:rPr lang="en-US" sz="1000" dirty="0">
                <a:solidFill>
                  <a:srgbClr val="4A5568"/>
                </a:solidFill>
              </a:rPr>
              <a:t>CRUD, activate/deactivate</a:t>
            </a:r>
            <a:endParaRPr lang="en-US" sz="13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7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1A365D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137160"/>
            <a:ext cx="78638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THIẾT KẾ AGENT — GUI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640080" y="1051560"/>
            <a:ext cx="7863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A0AE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Views với CustomTkinter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457200" y="1143000"/>
            <a:ext cx="8229600" cy="713232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457200" y="1143000"/>
            <a:ext cx="54864" cy="713232"/>
          </a:xfrm>
          <a:prstGeom prst="rect">
            <a:avLst/>
          </a:prstGeom>
          <a:solidFill>
            <a:srgbClr val="2B6CB0"/>
          </a:solidFill>
          <a:ln/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85800" y="1298448"/>
            <a:ext cx="365760" cy="365760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1234440" y="1188720"/>
            <a:ext cx="722376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A202C"/>
                </a:solidFill>
              </a:rPr>
              <a:t>Dashboard</a:t>
            </a:r>
            <a:endParaRPr lang="en-US" sz="1500" dirty="0"/>
          </a:p>
          <a:p>
            <a:pPr indent="0" marL="0">
              <a:buNone/>
            </a:pPr>
            <a:r>
              <a:rPr lang="en-US" sz="1100" dirty="0">
                <a:solidFill>
                  <a:srgbClr val="4A5568"/>
                </a:solidFill>
              </a:rPr>
              <a:t>Status cards animated, Activity log real-time, Start/Stop agent, Cập nhật mỗi 1 giây</a:t>
            </a:r>
            <a:endParaRPr lang="en-US" sz="1500" dirty="0"/>
          </a:p>
        </p:txBody>
      </p:sp>
      <p:sp>
        <p:nvSpPr>
          <p:cNvPr id="9" name="Shape 6"/>
          <p:cNvSpPr/>
          <p:nvPr/>
        </p:nvSpPr>
        <p:spPr>
          <a:xfrm>
            <a:off x="457200" y="1920240"/>
            <a:ext cx="8229600" cy="713232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457200" y="1920240"/>
            <a:ext cx="54864" cy="713232"/>
          </a:xfrm>
          <a:prstGeom prst="rect">
            <a:avLst/>
          </a:prstGeom>
          <a:solidFill>
            <a:srgbClr val="2B6CB0"/>
          </a:solidFill>
          <a:ln/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5800" y="2075688"/>
            <a:ext cx="365760" cy="365760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1234440" y="1965960"/>
            <a:ext cx="722376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A202C"/>
                </a:solidFill>
              </a:rPr>
              <a:t>Firewall</a:t>
            </a:r>
            <a:endParaRPr lang="en-US" sz="1500" dirty="0"/>
          </a:p>
          <a:p>
            <a:pPr indent="0" marL="0">
              <a:buNone/>
            </a:pPr>
            <a:r>
              <a:rPr lang="en-US" sz="1100" dirty="0">
                <a:solidFill>
                  <a:srgbClr val="4A5568"/>
                </a:solidFill>
              </a:rPr>
              <a:t>Policy status (Default Deny/Allow), Rules table, Mode indicator (monitor/whitelist_only)</a:t>
            </a:r>
            <a:endParaRPr lang="en-US" sz="1500" dirty="0"/>
          </a:p>
        </p:txBody>
      </p:sp>
      <p:sp>
        <p:nvSpPr>
          <p:cNvPr id="13" name="Shape 9"/>
          <p:cNvSpPr/>
          <p:nvPr/>
        </p:nvSpPr>
        <p:spPr>
          <a:xfrm>
            <a:off x="457200" y="2697480"/>
            <a:ext cx="8229600" cy="713232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14" name="Shape 10"/>
          <p:cNvSpPr/>
          <p:nvPr/>
        </p:nvSpPr>
        <p:spPr>
          <a:xfrm>
            <a:off x="457200" y="2697480"/>
            <a:ext cx="54864" cy="713232"/>
          </a:xfrm>
          <a:prstGeom prst="rect">
            <a:avLst/>
          </a:prstGeom>
          <a:solidFill>
            <a:srgbClr val="2B6CB0"/>
          </a:solidFill>
          <a:ln/>
        </p:spPr>
      </p:sp>
      <p:pic>
        <p:nvPicPr>
          <p:cNvPr id="15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5800" y="2852928"/>
            <a:ext cx="365760" cy="365760"/>
          </a:xfrm>
          <a:prstGeom prst="rect">
            <a:avLst/>
          </a:prstGeom>
        </p:spPr>
      </p:pic>
      <p:sp>
        <p:nvSpPr>
          <p:cNvPr id="16" name="Text 11"/>
          <p:cNvSpPr/>
          <p:nvPr/>
        </p:nvSpPr>
        <p:spPr>
          <a:xfrm>
            <a:off x="1234440" y="2743200"/>
            <a:ext cx="722376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A202C"/>
                </a:solidFill>
              </a:rPr>
              <a:t>Whitelist</a:t>
            </a:r>
            <a:endParaRPr lang="en-US" sz="1500" dirty="0"/>
          </a:p>
          <a:p>
            <a:pPr indent="0" marL="0">
              <a:buNone/>
            </a:pPr>
            <a:r>
              <a:rPr lang="en-US" sz="1100" dirty="0">
                <a:solidFill>
                  <a:srgbClr val="4A5568"/>
                </a:solidFill>
              </a:rPr>
              <a:t>Domain list với resolved IPs, Auto-sync mỗi 30 giây, DNS resolution status</a:t>
            </a:r>
            <a:endParaRPr lang="en-US" sz="1500" dirty="0"/>
          </a:p>
        </p:txBody>
      </p:sp>
      <p:sp>
        <p:nvSpPr>
          <p:cNvPr id="17" name="Shape 12"/>
          <p:cNvSpPr/>
          <p:nvPr/>
        </p:nvSpPr>
        <p:spPr>
          <a:xfrm>
            <a:off x="457200" y="3474720"/>
            <a:ext cx="8229600" cy="713232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18" name="Shape 13"/>
          <p:cNvSpPr/>
          <p:nvPr/>
        </p:nvSpPr>
        <p:spPr>
          <a:xfrm>
            <a:off x="457200" y="3474720"/>
            <a:ext cx="54864" cy="713232"/>
          </a:xfrm>
          <a:prstGeom prst="rect">
            <a:avLst/>
          </a:prstGeom>
          <a:solidFill>
            <a:srgbClr val="2B6CB0"/>
          </a:solidFill>
          <a:ln/>
        </p:spPr>
      </p:sp>
      <p:pic>
        <p:nvPicPr>
          <p:cNvPr id="19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85800" y="3630168"/>
            <a:ext cx="365760" cy="365760"/>
          </a:xfrm>
          <a:prstGeom prst="rect">
            <a:avLst/>
          </a:prstGeom>
        </p:spPr>
      </p:pic>
      <p:sp>
        <p:nvSpPr>
          <p:cNvPr id="20" name="Text 14"/>
          <p:cNvSpPr/>
          <p:nvPr/>
        </p:nvSpPr>
        <p:spPr>
          <a:xfrm>
            <a:off x="1234440" y="3520440"/>
            <a:ext cx="722376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A202C"/>
                </a:solidFill>
              </a:rPr>
              <a:t>Logs</a:t>
            </a:r>
            <a:endParaRPr lang="en-US" sz="1500" dirty="0"/>
          </a:p>
          <a:p>
            <a:pPr indent="0" marL="0">
              <a:buNone/>
            </a:pPr>
            <a:r>
              <a:rPr lang="en-US" sz="1100" dirty="0">
                <a:solidFill>
                  <a:srgbClr val="4A5568"/>
                </a:solidFill>
              </a:rPr>
              <a:t>Real-time log console, Filter: ALL/DEBUG/INFO/WARNING/ERROR, Export CSV</a:t>
            </a:r>
            <a:endParaRPr lang="en-US" sz="1500" dirty="0"/>
          </a:p>
        </p:txBody>
      </p:sp>
      <p:sp>
        <p:nvSpPr>
          <p:cNvPr id="21" name="Shape 15"/>
          <p:cNvSpPr/>
          <p:nvPr/>
        </p:nvSpPr>
        <p:spPr>
          <a:xfrm>
            <a:off x="457200" y="4251960"/>
            <a:ext cx="8229600" cy="713232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22" name="Shape 16"/>
          <p:cNvSpPr/>
          <p:nvPr/>
        </p:nvSpPr>
        <p:spPr>
          <a:xfrm>
            <a:off x="457200" y="4251960"/>
            <a:ext cx="54864" cy="713232"/>
          </a:xfrm>
          <a:prstGeom prst="rect">
            <a:avLst/>
          </a:prstGeom>
          <a:solidFill>
            <a:srgbClr val="2B6CB0"/>
          </a:solidFill>
          <a:ln/>
        </p:spPr>
      </p:sp>
      <p:pic>
        <p:nvPicPr>
          <p:cNvPr id="23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85800" y="4407408"/>
            <a:ext cx="365760" cy="365760"/>
          </a:xfrm>
          <a:prstGeom prst="rect">
            <a:avLst/>
          </a:prstGeom>
        </p:spPr>
      </p:pic>
      <p:sp>
        <p:nvSpPr>
          <p:cNvPr id="24" name="Text 17"/>
          <p:cNvSpPr/>
          <p:nvPr/>
        </p:nvSpPr>
        <p:spPr>
          <a:xfrm>
            <a:off x="1234440" y="4297680"/>
            <a:ext cx="722376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A202C"/>
                </a:solidFill>
              </a:rPr>
              <a:t>Settings</a:t>
            </a:r>
            <a:endParaRPr lang="en-US" sz="1500" dirty="0"/>
          </a:p>
          <a:p>
            <a:pPr indent="0" marL="0">
              <a:buNone/>
            </a:pPr>
            <a:r>
              <a:rPr lang="en-US" sz="1100" dirty="0">
                <a:solidFill>
                  <a:srgbClr val="4A5568"/>
                </a:solidFill>
              </a:rPr>
              <a:t>Server URL + fallback, API Key, Heartbeat/Sync intervals, Config encryption</a:t>
            </a:r>
            <a:endParaRPr lang="en-US" sz="1500" dirty="0"/>
          </a:p>
        </p:txBody>
      </p:sp>
      <p:sp>
        <p:nvSpPr>
          <p:cNvPr id="25" name="Text 18"/>
          <p:cNvSpPr/>
          <p:nvPr/>
        </p:nvSpPr>
        <p:spPr>
          <a:xfrm>
            <a:off x="457200" y="484632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A0AEC0"/>
                </a:solidFill>
              </a:rPr>
              <a:t>* Chèn screenshots thật từ ứng dụng vào đây</a:t>
            </a:r>
            <a:endParaRPr lang="en-US" sz="10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7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1A365D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137160"/>
            <a:ext cx="78638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 — CORE COMPONENTS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640080" y="1051560"/>
            <a:ext cx="7863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A0AE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Các thành phần xử lý chính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457200" y="1097280"/>
            <a:ext cx="3931920" cy="10972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457200" y="1097280"/>
            <a:ext cx="54864" cy="1097280"/>
          </a:xfrm>
          <a:prstGeom prst="rect">
            <a:avLst/>
          </a:prstGeom>
          <a:solidFill>
            <a:srgbClr val="2B6CB0"/>
          </a:solidFill>
          <a:ln/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40080" y="1417320"/>
            <a:ext cx="411480" cy="411480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1188720" y="1188720"/>
            <a:ext cx="30175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202C"/>
                </a:solidFill>
              </a:rPr>
              <a:t>PacketSniffer (Scapy)</a:t>
            </a:r>
            <a:endParaRPr lang="en-US" sz="1400" dirty="0"/>
          </a:p>
          <a:p>
            <a:pPr indent="0" marL="0">
              <a:buNone/>
            </a:pPr>
            <a:r>
              <a:rPr lang="en-US" sz="1000" dirty="0">
                <a:solidFill>
                  <a:srgbClr val="4A5568"/>
                </a:solidFill>
              </a:rPr>
              <a:t>Bắt gói tin TCP port 80, 443, 53</a:t>
            </a:r>
            <a:endParaRPr lang="en-US" sz="1400" dirty="0"/>
          </a:p>
          <a:p>
            <a:pPr indent="0" marL="0">
              <a:buNone/>
            </a:pPr>
            <a:r>
              <a:rPr lang="en-US" sz="1000" dirty="0">
                <a:solidFill>
                  <a:srgbClr val="4A5568"/>
                </a:solidFill>
              </a:rPr>
              <a:t>Chạy trong thread riêng, graceful shutdown</a:t>
            </a:r>
            <a:endParaRPr lang="en-US" sz="1400" dirty="0"/>
          </a:p>
        </p:txBody>
      </p:sp>
      <p:sp>
        <p:nvSpPr>
          <p:cNvPr id="9" name="Shape 6"/>
          <p:cNvSpPr/>
          <p:nvPr/>
        </p:nvSpPr>
        <p:spPr>
          <a:xfrm>
            <a:off x="4754880" y="1097280"/>
            <a:ext cx="3931920" cy="10972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4754880" y="1097280"/>
            <a:ext cx="54864" cy="1097280"/>
          </a:xfrm>
          <a:prstGeom prst="rect">
            <a:avLst/>
          </a:prstGeom>
          <a:solidFill>
            <a:srgbClr val="319795"/>
          </a:solidFill>
          <a:ln/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37760" y="1417320"/>
            <a:ext cx="411480" cy="411480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5486400" y="1188720"/>
            <a:ext cx="30175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202C"/>
                </a:solidFill>
              </a:rPr>
              <a:t>DomainExtractor</a:t>
            </a:r>
            <a:endParaRPr lang="en-US" sz="1400" dirty="0"/>
          </a:p>
          <a:p>
            <a:pPr indent="0" marL="0">
              <a:buNone/>
            </a:pPr>
            <a:r>
              <a:rPr lang="en-US" sz="1000" dirty="0">
                <a:solidFill>
                  <a:srgbClr val="4A5568"/>
                </a:solidFill>
              </a:rPr>
              <a:t>Trích xuất domain từ:</a:t>
            </a:r>
            <a:endParaRPr lang="en-US" sz="1400" dirty="0"/>
          </a:p>
          <a:p>
            <a:pPr indent="0" marL="0">
              <a:buNone/>
            </a:pPr>
            <a:r>
              <a:rPr lang="en-US" sz="1000" dirty="0">
                <a:solidFill>
                  <a:srgbClr val="4A5568"/>
                </a:solidFill>
              </a:rPr>
              <a:t>• DNS Query • HTTP Host • TLS SNI</a:t>
            </a:r>
            <a:endParaRPr lang="en-US" sz="1400" dirty="0"/>
          </a:p>
        </p:txBody>
      </p:sp>
      <p:sp>
        <p:nvSpPr>
          <p:cNvPr id="13" name="Shape 9"/>
          <p:cNvSpPr/>
          <p:nvPr/>
        </p:nvSpPr>
        <p:spPr>
          <a:xfrm>
            <a:off x="457200" y="2377440"/>
            <a:ext cx="3931920" cy="10972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14" name="Shape 10"/>
          <p:cNvSpPr/>
          <p:nvPr/>
        </p:nvSpPr>
        <p:spPr>
          <a:xfrm>
            <a:off x="457200" y="2377440"/>
            <a:ext cx="54864" cy="1097280"/>
          </a:xfrm>
          <a:prstGeom prst="rect">
            <a:avLst/>
          </a:prstGeom>
          <a:solidFill>
            <a:srgbClr val="E53E3E"/>
          </a:solidFill>
          <a:ln/>
        </p:spPr>
      </p:sp>
      <p:pic>
        <p:nvPicPr>
          <p:cNvPr id="15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0080" y="2697480"/>
            <a:ext cx="411480" cy="411480"/>
          </a:xfrm>
          <a:prstGeom prst="rect">
            <a:avLst/>
          </a:prstGeom>
        </p:spPr>
      </p:pic>
      <p:sp>
        <p:nvSpPr>
          <p:cNvPr id="16" name="Text 11"/>
          <p:cNvSpPr/>
          <p:nvPr/>
        </p:nvSpPr>
        <p:spPr>
          <a:xfrm>
            <a:off x="1188720" y="2468880"/>
            <a:ext cx="30175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202C"/>
                </a:solidFill>
              </a:rPr>
              <a:t>FirewallManager</a:t>
            </a:r>
            <a:endParaRPr lang="en-US" sz="1400" dirty="0"/>
          </a:p>
          <a:p>
            <a:pPr indent="0" marL="0">
              <a:buNone/>
            </a:pPr>
            <a:r>
              <a:rPr lang="en-US" sz="1000" dirty="0">
                <a:solidFill>
                  <a:srgbClr val="4A5568"/>
                </a:solidFill>
              </a:rPr>
              <a:t>Default Deny + Allow whitelist IPs</a:t>
            </a:r>
            <a:endParaRPr lang="en-US" sz="1400" dirty="0"/>
          </a:p>
          <a:p>
            <a:pPr indent="0" marL="0">
              <a:buNone/>
            </a:pPr>
            <a:r>
              <a:rPr lang="en-US" sz="1000" dirty="0">
                <a:solidFill>
                  <a:srgbClr val="4A5568"/>
                </a:solidFill>
              </a:rPr>
              <a:t>netsh command cho Windows Firewall</a:t>
            </a:r>
            <a:endParaRPr lang="en-US" sz="1400" dirty="0"/>
          </a:p>
        </p:txBody>
      </p:sp>
      <p:sp>
        <p:nvSpPr>
          <p:cNvPr id="17" name="Shape 12"/>
          <p:cNvSpPr/>
          <p:nvPr/>
        </p:nvSpPr>
        <p:spPr>
          <a:xfrm>
            <a:off x="4754880" y="2377440"/>
            <a:ext cx="3931920" cy="10972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18" name="Shape 13"/>
          <p:cNvSpPr/>
          <p:nvPr/>
        </p:nvSpPr>
        <p:spPr>
          <a:xfrm>
            <a:off x="4754880" y="2377440"/>
            <a:ext cx="54864" cy="1097280"/>
          </a:xfrm>
          <a:prstGeom prst="rect">
            <a:avLst/>
          </a:prstGeom>
          <a:solidFill>
            <a:srgbClr val="38A169"/>
          </a:solidFill>
          <a:ln/>
        </p:spPr>
      </p:sp>
      <p:pic>
        <p:nvPicPr>
          <p:cNvPr id="19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937760" y="2697480"/>
            <a:ext cx="411480" cy="411480"/>
          </a:xfrm>
          <a:prstGeom prst="rect">
            <a:avLst/>
          </a:prstGeom>
        </p:spPr>
      </p:pic>
      <p:sp>
        <p:nvSpPr>
          <p:cNvPr id="20" name="Text 14"/>
          <p:cNvSpPr/>
          <p:nvPr/>
        </p:nvSpPr>
        <p:spPr>
          <a:xfrm>
            <a:off x="5486400" y="2468880"/>
            <a:ext cx="30175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202C"/>
                </a:solidFill>
              </a:rPr>
              <a:t>WhitelistManager</a:t>
            </a:r>
            <a:endParaRPr lang="en-US" sz="1400" dirty="0"/>
          </a:p>
          <a:p>
            <a:pPr indent="0" marL="0">
              <a:buNone/>
            </a:pPr>
            <a:r>
              <a:rPr lang="en-US" sz="1000" dirty="0">
                <a:solidFill>
                  <a:srgbClr val="4A5568"/>
                </a:solidFill>
              </a:rPr>
              <a:t>Sync từ Server + DNS resolve parallel</a:t>
            </a:r>
            <a:endParaRPr lang="en-US" sz="1400" dirty="0"/>
          </a:p>
          <a:p>
            <a:pPr indent="0" marL="0">
              <a:buNone/>
            </a:pPr>
            <a:r>
              <a:rPr lang="en-US" sz="1000" dirty="0">
                <a:solidFill>
                  <a:srgbClr val="4A5568"/>
                </a:solidFill>
              </a:rPr>
              <a:t>LRU Cache 2000 entries, Thread-safe</a:t>
            </a:r>
            <a:endParaRPr lang="en-US" sz="1400" dirty="0"/>
          </a:p>
        </p:txBody>
      </p:sp>
      <p:sp>
        <p:nvSpPr>
          <p:cNvPr id="21" name="Shape 15"/>
          <p:cNvSpPr/>
          <p:nvPr/>
        </p:nvSpPr>
        <p:spPr>
          <a:xfrm>
            <a:off x="457200" y="3657600"/>
            <a:ext cx="3931920" cy="10972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22" name="Shape 16"/>
          <p:cNvSpPr/>
          <p:nvPr/>
        </p:nvSpPr>
        <p:spPr>
          <a:xfrm>
            <a:off x="457200" y="3657600"/>
            <a:ext cx="54864" cy="1097280"/>
          </a:xfrm>
          <a:prstGeom prst="rect">
            <a:avLst/>
          </a:prstGeom>
          <a:solidFill>
            <a:srgbClr val="1A365D"/>
          </a:solidFill>
          <a:ln/>
        </p:spPr>
      </p:sp>
      <p:pic>
        <p:nvPicPr>
          <p:cNvPr id="23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40080" y="3977640"/>
            <a:ext cx="411480" cy="411480"/>
          </a:xfrm>
          <a:prstGeom prst="rect">
            <a:avLst/>
          </a:prstGeom>
        </p:spPr>
      </p:pic>
      <p:sp>
        <p:nvSpPr>
          <p:cNvPr id="24" name="Text 17"/>
          <p:cNvSpPr/>
          <p:nvPr/>
        </p:nvSpPr>
        <p:spPr>
          <a:xfrm>
            <a:off x="1188720" y="3749040"/>
            <a:ext cx="30175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202C"/>
                </a:solidFill>
              </a:rPr>
              <a:t>HeartbeatSender</a:t>
            </a:r>
            <a:endParaRPr lang="en-US" sz="1400" dirty="0"/>
          </a:p>
          <a:p>
            <a:pPr indent="0" marL="0">
              <a:buNone/>
            </a:pPr>
            <a:r>
              <a:rPr lang="en-US" sz="1000" dirty="0">
                <a:solidFill>
                  <a:srgbClr val="4A5568"/>
                </a:solidFill>
              </a:rPr>
              <a:t>Gửi heartbeat mỗi 20 giây</a:t>
            </a:r>
            <a:endParaRPr lang="en-US" sz="1400" dirty="0"/>
          </a:p>
          <a:p>
            <a:pPr indent="0" marL="0">
              <a:buNone/>
            </a:pPr>
            <a:r>
              <a:rPr lang="en-US" sz="1000" dirty="0">
                <a:solidFill>
                  <a:srgbClr val="4A5568"/>
                </a:solidFill>
              </a:rPr>
              <a:t>Metrics: CPU, Memory, Uptime</a:t>
            </a:r>
            <a:endParaRPr lang="en-US" sz="1400" dirty="0"/>
          </a:p>
        </p:txBody>
      </p:sp>
      <p:sp>
        <p:nvSpPr>
          <p:cNvPr id="25" name="Shape 18"/>
          <p:cNvSpPr/>
          <p:nvPr/>
        </p:nvSpPr>
        <p:spPr>
          <a:xfrm>
            <a:off x="4754880" y="3657600"/>
            <a:ext cx="3931920" cy="10972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26" name="Shape 19"/>
          <p:cNvSpPr/>
          <p:nvPr/>
        </p:nvSpPr>
        <p:spPr>
          <a:xfrm>
            <a:off x="4754880" y="3657600"/>
            <a:ext cx="54864" cy="1097280"/>
          </a:xfrm>
          <a:prstGeom prst="rect">
            <a:avLst/>
          </a:prstGeom>
          <a:solidFill>
            <a:srgbClr val="DD6B20"/>
          </a:solidFill>
          <a:ln/>
        </p:spPr>
      </p:sp>
      <p:pic>
        <p:nvPicPr>
          <p:cNvPr id="27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937760" y="3977640"/>
            <a:ext cx="411480" cy="411480"/>
          </a:xfrm>
          <a:prstGeom prst="rect">
            <a:avLst/>
          </a:prstGeom>
        </p:spPr>
      </p:pic>
      <p:sp>
        <p:nvSpPr>
          <p:cNvPr id="28" name="Text 20"/>
          <p:cNvSpPr/>
          <p:nvPr/>
        </p:nvSpPr>
        <p:spPr>
          <a:xfrm>
            <a:off x="5486400" y="3749040"/>
            <a:ext cx="30175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202C"/>
                </a:solidFill>
              </a:rPr>
              <a:t>LogSender</a:t>
            </a:r>
            <a:endParaRPr lang="en-US" sz="1400" dirty="0"/>
          </a:p>
          <a:p>
            <a:pPr indent="0" marL="0">
              <a:buNone/>
            </a:pPr>
            <a:r>
              <a:rPr lang="en-US" sz="1000" dirty="0">
                <a:solidFill>
                  <a:srgbClr val="4A5568"/>
                </a:solidFill>
              </a:rPr>
              <a:t>Queue-based batch sending</a:t>
            </a:r>
            <a:endParaRPr lang="en-US" sz="1400" dirty="0"/>
          </a:p>
          <a:p>
            <a:pPr indent="0" marL="0">
              <a:buNone/>
            </a:pPr>
            <a:r>
              <a:rPr lang="en-US" sz="1000" dirty="0">
                <a:solidFill>
                  <a:srgbClr val="4A5568"/>
                </a:solidFill>
              </a:rPr>
              <a:t>100 logs/request, 2 giây/batch</a:t>
            </a:r>
            <a:endParaRPr lang="en-US" sz="14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7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1A365D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137160"/>
            <a:ext cx="78638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LUỒNG ĐĂNG KÝ AGENT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640080" y="1051560"/>
            <a:ext cx="7863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A0AE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Sequence: Registration → Sync → Firewall → Capture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1097280" y="1188720"/>
            <a:ext cx="502920" cy="502920"/>
          </a:xfrm>
          <a:prstGeom prst="ellipse">
            <a:avLst/>
          </a:prstGeom>
          <a:solidFill>
            <a:srgbClr val="2B6CB0"/>
          </a:solidFill>
          <a:ln/>
        </p:spPr>
      </p:sp>
      <p:sp>
        <p:nvSpPr>
          <p:cNvPr id="6" name="Text 4"/>
          <p:cNvSpPr/>
          <p:nvPr/>
        </p:nvSpPr>
        <p:spPr>
          <a:xfrm>
            <a:off x="1097280" y="118872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</a:rPr>
              <a:t>1</a:t>
            </a:r>
            <a:endParaRPr lang="en-US" sz="1800" dirty="0"/>
          </a:p>
        </p:txBody>
      </p:sp>
      <p:sp>
        <p:nvSpPr>
          <p:cNvPr id="7" name="Shape 5"/>
          <p:cNvSpPr/>
          <p:nvPr/>
        </p:nvSpPr>
        <p:spPr>
          <a:xfrm>
            <a:off x="457200" y="1828800"/>
            <a:ext cx="2560320" cy="9144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457200" y="1828800"/>
            <a:ext cx="54864" cy="914400"/>
          </a:xfrm>
          <a:prstGeom prst="rect">
            <a:avLst/>
          </a:prstGeom>
          <a:solidFill>
            <a:srgbClr val="2B6CB0"/>
          </a:solidFill>
          <a:ln/>
        </p:spPr>
      </p:sp>
      <p:sp>
        <p:nvSpPr>
          <p:cNvPr id="9" name="Text 7"/>
          <p:cNvSpPr/>
          <p:nvPr/>
        </p:nvSpPr>
        <p:spPr>
          <a:xfrm>
            <a:off x="640080" y="1874520"/>
            <a:ext cx="21945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2D3748"/>
                </a:solidFill>
              </a:rPr>
              <a:t>Agent gửi POST /register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2D3748"/>
                </a:solidFill>
              </a:rPr>
              <a:t>với API Key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3017520" y="2011680"/>
            <a:ext cx="320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A0AEC0"/>
                </a:solidFill>
              </a:rPr>
              <a:t>→</a:t>
            </a:r>
            <a:endParaRPr lang="en-US" sz="2000" dirty="0"/>
          </a:p>
        </p:txBody>
      </p:sp>
      <p:sp>
        <p:nvSpPr>
          <p:cNvPr id="11" name="Shape 9"/>
          <p:cNvSpPr/>
          <p:nvPr/>
        </p:nvSpPr>
        <p:spPr>
          <a:xfrm>
            <a:off x="3977640" y="1188720"/>
            <a:ext cx="502920" cy="502920"/>
          </a:xfrm>
          <a:prstGeom prst="ellipse">
            <a:avLst/>
          </a:prstGeom>
          <a:solidFill>
            <a:srgbClr val="319795"/>
          </a:solidFill>
          <a:ln/>
        </p:spPr>
      </p:sp>
      <p:sp>
        <p:nvSpPr>
          <p:cNvPr id="12" name="Text 10"/>
          <p:cNvSpPr/>
          <p:nvPr/>
        </p:nvSpPr>
        <p:spPr>
          <a:xfrm>
            <a:off x="3977640" y="118872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</a:rPr>
              <a:t>2</a:t>
            </a:r>
            <a:endParaRPr lang="en-US" sz="1800" dirty="0"/>
          </a:p>
        </p:txBody>
      </p:sp>
      <p:sp>
        <p:nvSpPr>
          <p:cNvPr id="13" name="Shape 11"/>
          <p:cNvSpPr/>
          <p:nvPr/>
        </p:nvSpPr>
        <p:spPr>
          <a:xfrm>
            <a:off x="3337560" y="1828800"/>
            <a:ext cx="2560320" cy="9144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3337560" y="1828800"/>
            <a:ext cx="54864" cy="914400"/>
          </a:xfrm>
          <a:prstGeom prst="rect">
            <a:avLst/>
          </a:prstGeom>
          <a:solidFill>
            <a:srgbClr val="319795"/>
          </a:solidFill>
          <a:ln/>
        </p:spPr>
      </p:sp>
      <p:sp>
        <p:nvSpPr>
          <p:cNvPr id="15" name="Text 13"/>
          <p:cNvSpPr/>
          <p:nvPr/>
        </p:nvSpPr>
        <p:spPr>
          <a:xfrm>
            <a:off x="3520440" y="1874520"/>
            <a:ext cx="21945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2D3748"/>
                </a:solidFill>
              </a:rPr>
              <a:t>Server tạo record MongoDB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2D3748"/>
                </a:solidFill>
              </a:rPr>
              <a:t>Trả về agent_id + JWT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5897880" y="2011680"/>
            <a:ext cx="320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A0AEC0"/>
                </a:solidFill>
              </a:rPr>
              <a:t>→</a:t>
            </a:r>
            <a:endParaRPr lang="en-US" sz="2000" dirty="0"/>
          </a:p>
        </p:txBody>
      </p:sp>
      <p:sp>
        <p:nvSpPr>
          <p:cNvPr id="17" name="Shape 15"/>
          <p:cNvSpPr/>
          <p:nvPr/>
        </p:nvSpPr>
        <p:spPr>
          <a:xfrm>
            <a:off x="6858000" y="1188720"/>
            <a:ext cx="502920" cy="502920"/>
          </a:xfrm>
          <a:prstGeom prst="ellipse">
            <a:avLst/>
          </a:prstGeom>
          <a:solidFill>
            <a:srgbClr val="38A169"/>
          </a:solidFill>
          <a:ln/>
        </p:spPr>
      </p:sp>
      <p:sp>
        <p:nvSpPr>
          <p:cNvPr id="18" name="Text 16"/>
          <p:cNvSpPr/>
          <p:nvPr/>
        </p:nvSpPr>
        <p:spPr>
          <a:xfrm>
            <a:off x="6858000" y="118872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</a:rPr>
              <a:t>3</a:t>
            </a:r>
            <a:endParaRPr lang="en-US" sz="1800" dirty="0"/>
          </a:p>
        </p:txBody>
      </p:sp>
      <p:sp>
        <p:nvSpPr>
          <p:cNvPr id="19" name="Shape 17"/>
          <p:cNvSpPr/>
          <p:nvPr/>
        </p:nvSpPr>
        <p:spPr>
          <a:xfrm>
            <a:off x="6217920" y="1828800"/>
            <a:ext cx="2560320" cy="9144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6217920" y="1828800"/>
            <a:ext cx="54864" cy="914400"/>
          </a:xfrm>
          <a:prstGeom prst="rect">
            <a:avLst/>
          </a:prstGeom>
          <a:solidFill>
            <a:srgbClr val="38A169"/>
          </a:solidFill>
          <a:ln/>
        </p:spPr>
      </p:sp>
      <p:sp>
        <p:nvSpPr>
          <p:cNvPr id="21" name="Text 19"/>
          <p:cNvSpPr/>
          <p:nvPr/>
        </p:nvSpPr>
        <p:spPr>
          <a:xfrm>
            <a:off x="6400800" y="1874520"/>
            <a:ext cx="21945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2D3748"/>
                </a:solidFill>
              </a:rPr>
              <a:t>Agent sync whitelist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2D3748"/>
                </a:solidFill>
              </a:rPr>
              <a:t>GET /whitelist/agent-sync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1097280" y="3017520"/>
            <a:ext cx="502920" cy="502920"/>
          </a:xfrm>
          <a:prstGeom prst="ellipse">
            <a:avLst/>
          </a:prstGeom>
          <a:solidFill>
            <a:srgbClr val="DD6B20"/>
          </a:solidFill>
          <a:ln/>
        </p:spPr>
      </p:sp>
      <p:sp>
        <p:nvSpPr>
          <p:cNvPr id="23" name="Text 21"/>
          <p:cNvSpPr/>
          <p:nvPr/>
        </p:nvSpPr>
        <p:spPr>
          <a:xfrm>
            <a:off x="1097280" y="301752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</a:rPr>
              <a:t>4</a:t>
            </a:r>
            <a:endParaRPr lang="en-US" sz="1800" dirty="0"/>
          </a:p>
        </p:txBody>
      </p:sp>
      <p:sp>
        <p:nvSpPr>
          <p:cNvPr id="24" name="Shape 22"/>
          <p:cNvSpPr/>
          <p:nvPr/>
        </p:nvSpPr>
        <p:spPr>
          <a:xfrm>
            <a:off x="457200" y="3657600"/>
            <a:ext cx="2560320" cy="9144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457200" y="3657600"/>
            <a:ext cx="54864" cy="914400"/>
          </a:xfrm>
          <a:prstGeom prst="rect">
            <a:avLst/>
          </a:prstGeom>
          <a:solidFill>
            <a:srgbClr val="DD6B20"/>
          </a:solidFill>
          <a:ln/>
        </p:spPr>
      </p:sp>
      <p:sp>
        <p:nvSpPr>
          <p:cNvPr id="26" name="Text 24"/>
          <p:cNvSpPr/>
          <p:nvPr/>
        </p:nvSpPr>
        <p:spPr>
          <a:xfrm>
            <a:off x="640080" y="3703320"/>
            <a:ext cx="21945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2D3748"/>
                </a:solidFill>
              </a:rPr>
              <a:t>DNS resolve domains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2D3748"/>
                </a:solidFill>
              </a:rPr>
              <a:t>Parallel (5-10 workers)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3017520" y="3840480"/>
            <a:ext cx="320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A0AEC0"/>
                </a:solidFill>
              </a:rPr>
              <a:t>→</a:t>
            </a:r>
            <a:endParaRPr lang="en-US" sz="2000" dirty="0"/>
          </a:p>
        </p:txBody>
      </p:sp>
      <p:sp>
        <p:nvSpPr>
          <p:cNvPr id="28" name="Shape 26"/>
          <p:cNvSpPr/>
          <p:nvPr/>
        </p:nvSpPr>
        <p:spPr>
          <a:xfrm>
            <a:off x="3977640" y="3017520"/>
            <a:ext cx="502920" cy="502920"/>
          </a:xfrm>
          <a:prstGeom prst="ellipse">
            <a:avLst/>
          </a:prstGeom>
          <a:solidFill>
            <a:srgbClr val="E53E3E"/>
          </a:solidFill>
          <a:ln/>
        </p:spPr>
      </p:sp>
      <p:sp>
        <p:nvSpPr>
          <p:cNvPr id="29" name="Text 27"/>
          <p:cNvSpPr/>
          <p:nvPr/>
        </p:nvSpPr>
        <p:spPr>
          <a:xfrm>
            <a:off x="3977640" y="301752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</a:rPr>
              <a:t>5</a:t>
            </a:r>
            <a:endParaRPr lang="en-US" sz="1800" dirty="0"/>
          </a:p>
        </p:txBody>
      </p:sp>
      <p:sp>
        <p:nvSpPr>
          <p:cNvPr id="30" name="Shape 28"/>
          <p:cNvSpPr/>
          <p:nvPr/>
        </p:nvSpPr>
        <p:spPr>
          <a:xfrm>
            <a:off x="3337560" y="3657600"/>
            <a:ext cx="2560320" cy="9144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31" name="Shape 29"/>
          <p:cNvSpPr/>
          <p:nvPr/>
        </p:nvSpPr>
        <p:spPr>
          <a:xfrm>
            <a:off x="3337560" y="3657600"/>
            <a:ext cx="54864" cy="914400"/>
          </a:xfrm>
          <a:prstGeom prst="rect">
            <a:avLst/>
          </a:prstGeom>
          <a:solidFill>
            <a:srgbClr val="E53E3E"/>
          </a:solidFill>
          <a:ln/>
        </p:spPr>
      </p:sp>
      <p:sp>
        <p:nvSpPr>
          <p:cNvPr id="32" name="Text 30"/>
          <p:cNvSpPr/>
          <p:nvPr/>
        </p:nvSpPr>
        <p:spPr>
          <a:xfrm>
            <a:off x="3520440" y="3703320"/>
            <a:ext cx="21945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2D3748"/>
                </a:solidFill>
              </a:rPr>
              <a:t>Tạo Firewall rules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2D3748"/>
                </a:solidFill>
              </a:rPr>
              <a:t>Default Deny + Allow IPs</a:t>
            </a:r>
            <a:endParaRPr lang="en-US" sz="1100" dirty="0"/>
          </a:p>
        </p:txBody>
      </p:sp>
      <p:sp>
        <p:nvSpPr>
          <p:cNvPr id="33" name="Text 31"/>
          <p:cNvSpPr/>
          <p:nvPr/>
        </p:nvSpPr>
        <p:spPr>
          <a:xfrm>
            <a:off x="5897880" y="3840480"/>
            <a:ext cx="320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A0AEC0"/>
                </a:solidFill>
              </a:rPr>
              <a:t>→</a:t>
            </a:r>
            <a:endParaRPr lang="en-US" sz="2000" dirty="0"/>
          </a:p>
        </p:txBody>
      </p:sp>
      <p:sp>
        <p:nvSpPr>
          <p:cNvPr id="34" name="Shape 32"/>
          <p:cNvSpPr/>
          <p:nvPr/>
        </p:nvSpPr>
        <p:spPr>
          <a:xfrm>
            <a:off x="6858000" y="3017520"/>
            <a:ext cx="502920" cy="502920"/>
          </a:xfrm>
          <a:prstGeom prst="ellipse">
            <a:avLst/>
          </a:prstGeom>
          <a:solidFill>
            <a:srgbClr val="1A365D"/>
          </a:solidFill>
          <a:ln/>
        </p:spPr>
      </p:sp>
      <p:sp>
        <p:nvSpPr>
          <p:cNvPr id="35" name="Text 33"/>
          <p:cNvSpPr/>
          <p:nvPr/>
        </p:nvSpPr>
        <p:spPr>
          <a:xfrm>
            <a:off x="6858000" y="301752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</a:rPr>
              <a:t>6</a:t>
            </a:r>
            <a:endParaRPr lang="en-US" sz="1800" dirty="0"/>
          </a:p>
        </p:txBody>
      </p:sp>
      <p:sp>
        <p:nvSpPr>
          <p:cNvPr id="36" name="Shape 34"/>
          <p:cNvSpPr/>
          <p:nvPr/>
        </p:nvSpPr>
        <p:spPr>
          <a:xfrm>
            <a:off x="6217920" y="3657600"/>
            <a:ext cx="2560320" cy="9144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37" name="Shape 35"/>
          <p:cNvSpPr/>
          <p:nvPr/>
        </p:nvSpPr>
        <p:spPr>
          <a:xfrm>
            <a:off x="6217920" y="3657600"/>
            <a:ext cx="54864" cy="914400"/>
          </a:xfrm>
          <a:prstGeom prst="rect">
            <a:avLst/>
          </a:prstGeom>
          <a:solidFill>
            <a:srgbClr val="1A365D"/>
          </a:solidFill>
          <a:ln/>
        </p:spPr>
      </p:sp>
      <p:sp>
        <p:nvSpPr>
          <p:cNvPr id="38" name="Text 36"/>
          <p:cNvSpPr/>
          <p:nvPr/>
        </p:nvSpPr>
        <p:spPr>
          <a:xfrm>
            <a:off x="6400800" y="3703320"/>
            <a:ext cx="21945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2D3748"/>
                </a:solidFill>
              </a:rPr>
              <a:t>Bắt đầu Capture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2D3748"/>
                </a:solidFill>
              </a:rPr>
              <a:t>+ Heartbeat + LogSender</a:t>
            </a:r>
            <a:endParaRPr lang="en-US" sz="11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7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1A365D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137160"/>
            <a:ext cx="78638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LUỒNG KIỂM TRA TRUY CẬP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640080" y="1051560"/>
            <a:ext cx="7863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A0AE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Packet Capture → Domain Check → Allow/Block → Log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274320" y="2011680"/>
            <a:ext cx="1371600" cy="914400"/>
          </a:xfrm>
          <a:prstGeom prst="rect">
            <a:avLst/>
          </a:prstGeom>
          <a:solidFill>
            <a:srgbClr val="2B6CB0"/>
          </a:solidFill>
          <a:ln/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274320" y="2011680"/>
            <a:ext cx="1371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Packet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Captured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2103120" y="2011680"/>
            <a:ext cx="1371600" cy="914400"/>
          </a:xfrm>
          <a:prstGeom prst="rect">
            <a:avLst/>
          </a:prstGeom>
          <a:solidFill>
            <a:srgbClr val="319795"/>
          </a:solidFill>
          <a:ln/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2103120" y="2011680"/>
            <a:ext cx="1371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Extract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Domain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2103120" y="2971800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i="1" dirty="0">
                <a:solidFill>
                  <a:srgbClr val="A0AEC0"/>
                </a:solidFill>
              </a:rPr>
              <a:t>DNS / HTTP / SNI</a:t>
            </a:r>
            <a:endParaRPr lang="en-US" sz="900" dirty="0"/>
          </a:p>
        </p:txBody>
      </p:sp>
      <p:sp>
        <p:nvSpPr>
          <p:cNvPr id="10" name="Shape 8"/>
          <p:cNvSpPr/>
          <p:nvPr/>
        </p:nvSpPr>
        <p:spPr>
          <a:xfrm>
            <a:off x="3931920" y="2011680"/>
            <a:ext cx="1371600" cy="914400"/>
          </a:xfrm>
          <a:prstGeom prst="rect">
            <a:avLst/>
          </a:prstGeom>
          <a:solidFill>
            <a:srgbClr val="1A365D"/>
          </a:solidFill>
          <a:ln/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3931920" y="2011680"/>
            <a:ext cx="1371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Check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Whitelist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3931920" y="2971800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i="1" dirty="0">
                <a:solidFill>
                  <a:srgbClr val="A0AEC0"/>
                </a:solidFill>
              </a:rPr>
              <a:t>domain ∈ WL?</a:t>
            </a:r>
            <a:endParaRPr lang="en-US" sz="900" dirty="0"/>
          </a:p>
        </p:txBody>
      </p:sp>
      <p:sp>
        <p:nvSpPr>
          <p:cNvPr id="13" name="Shape 11"/>
          <p:cNvSpPr/>
          <p:nvPr/>
        </p:nvSpPr>
        <p:spPr>
          <a:xfrm>
            <a:off x="5943600" y="1280160"/>
            <a:ext cx="1371600" cy="731520"/>
          </a:xfrm>
          <a:prstGeom prst="rect">
            <a:avLst/>
          </a:prstGeom>
          <a:solidFill>
            <a:srgbClr val="38A169"/>
          </a:solidFill>
          <a:ln/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5943600" y="1280160"/>
            <a:ext cx="1371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ALLOWED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5943600" y="2743200"/>
            <a:ext cx="1371600" cy="731520"/>
          </a:xfrm>
          <a:prstGeom prst="rect">
            <a:avLst/>
          </a:prstGeom>
          <a:solidFill>
            <a:srgbClr val="E53E3E"/>
          </a:solidFill>
          <a:ln/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5943600" y="2743200"/>
            <a:ext cx="1371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BLOCKED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7772400" y="2011680"/>
            <a:ext cx="1097280" cy="914400"/>
          </a:xfrm>
          <a:prstGeom prst="rect">
            <a:avLst/>
          </a:prstGeom>
          <a:solidFill>
            <a:srgbClr val="DD6B20"/>
          </a:solidFill>
          <a:ln/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7772400" y="2011680"/>
            <a:ext cx="10972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Log → Server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1645920" y="2468880"/>
            <a:ext cx="457200" cy="0"/>
          </a:xfrm>
          <a:prstGeom prst="line">
            <a:avLst/>
          </a:prstGeom>
          <a:noFill/>
          <a:ln w="25400">
            <a:solidFill>
              <a:srgbClr val="A0AEC0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3474720" y="2468880"/>
            <a:ext cx="457200" cy="0"/>
          </a:xfrm>
          <a:prstGeom prst="line">
            <a:avLst/>
          </a:prstGeom>
          <a:noFill/>
          <a:ln w="25400">
            <a:solidFill>
              <a:srgbClr val="A0AEC0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5349240" y="1508760"/>
            <a:ext cx="594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38A169"/>
                </a:solidFill>
              </a:rPr>
              <a:t>Có ✓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5303520" y="2880360"/>
            <a:ext cx="640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E53E3E"/>
                </a:solidFill>
              </a:rPr>
              <a:t>Không ✗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7315200" y="1645920"/>
            <a:ext cx="457200" cy="502920"/>
          </a:xfrm>
          <a:prstGeom prst="line">
            <a:avLst/>
          </a:prstGeom>
          <a:noFill/>
          <a:ln w="19050">
            <a:solidFill>
              <a:srgbClr val="A0AEC0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7315200" y="3108960"/>
            <a:ext cx="457200" cy="-502920"/>
          </a:xfrm>
          <a:prstGeom prst="line">
            <a:avLst/>
          </a:prstGeom>
          <a:noFill/>
          <a:ln w="19050">
            <a:solidFill>
              <a:srgbClr val="A0AEC0"/>
            </a:solidFill>
            <a:prstDash val="solid"/>
          </a:ln>
        </p:spPr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7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1A365D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137160"/>
            <a:ext cx="78638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BẢO MẬT HỆ THỐNG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640080" y="1051560"/>
            <a:ext cx="7863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A0AE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 lớp bảo mật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457200" y="1097280"/>
            <a:ext cx="3931920" cy="82296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457200" y="1097280"/>
            <a:ext cx="54864" cy="822960"/>
          </a:xfrm>
          <a:prstGeom prst="rect">
            <a:avLst/>
          </a:prstGeom>
          <a:solidFill>
            <a:srgbClr val="1A365D"/>
          </a:solidFill>
          <a:ln/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40080" y="1280160"/>
            <a:ext cx="365760" cy="365760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1143000" y="1170432"/>
            <a:ext cx="301752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202C"/>
                </a:solidFill>
              </a:rPr>
              <a:t>API Key + HMAC-SHA256</a:t>
            </a:r>
            <a:endParaRPr lang="en-US" sz="1300" dirty="0"/>
          </a:p>
          <a:p>
            <a:pPr indent="0" marL="0">
              <a:buNone/>
            </a:pPr>
            <a:r>
              <a:rPr lang="en-US" sz="1000" dirty="0">
                <a:solidFill>
                  <a:srgbClr val="4A5568"/>
                </a:solidFill>
              </a:rPr>
              <a:t>Đăng ký agent an toàn, key hash không lưu plaintext</a:t>
            </a:r>
            <a:endParaRPr lang="en-US" sz="1300" dirty="0"/>
          </a:p>
        </p:txBody>
      </p:sp>
      <p:sp>
        <p:nvSpPr>
          <p:cNvPr id="9" name="Shape 6"/>
          <p:cNvSpPr/>
          <p:nvPr/>
        </p:nvSpPr>
        <p:spPr>
          <a:xfrm>
            <a:off x="4754880" y="1097280"/>
            <a:ext cx="3931920" cy="82296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4754880" y="1097280"/>
            <a:ext cx="54864" cy="822960"/>
          </a:xfrm>
          <a:prstGeom prst="rect">
            <a:avLst/>
          </a:prstGeom>
          <a:solidFill>
            <a:srgbClr val="1A365D"/>
          </a:solidFill>
          <a:ln/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37760" y="1280160"/>
            <a:ext cx="365760" cy="365760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5440680" y="1170432"/>
            <a:ext cx="301752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202C"/>
                </a:solidFill>
              </a:rPr>
              <a:t>JWT Tokens</a:t>
            </a:r>
            <a:endParaRPr lang="en-US" sz="1300" dirty="0"/>
          </a:p>
          <a:p>
            <a:pPr indent="0" marL="0">
              <a:buNone/>
            </a:pPr>
            <a:r>
              <a:rPr lang="en-US" sz="1000" dirty="0">
                <a:solidFill>
                  <a:srgbClr val="4A5568"/>
                </a:solidFill>
              </a:rPr>
              <a:t>Access token 24h + Refresh token 7 ngày, JTI tracking</a:t>
            </a:r>
            <a:endParaRPr lang="en-US" sz="1300" dirty="0"/>
          </a:p>
        </p:txBody>
      </p:sp>
      <p:sp>
        <p:nvSpPr>
          <p:cNvPr id="13" name="Shape 9"/>
          <p:cNvSpPr/>
          <p:nvPr/>
        </p:nvSpPr>
        <p:spPr>
          <a:xfrm>
            <a:off x="457200" y="2057400"/>
            <a:ext cx="3931920" cy="82296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14" name="Shape 10"/>
          <p:cNvSpPr/>
          <p:nvPr/>
        </p:nvSpPr>
        <p:spPr>
          <a:xfrm>
            <a:off x="457200" y="2057400"/>
            <a:ext cx="54864" cy="822960"/>
          </a:xfrm>
          <a:prstGeom prst="rect">
            <a:avLst/>
          </a:prstGeom>
          <a:solidFill>
            <a:srgbClr val="1A365D"/>
          </a:solidFill>
          <a:ln/>
        </p:spPr>
      </p:sp>
      <p:pic>
        <p:nvPicPr>
          <p:cNvPr id="15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0080" y="2240280"/>
            <a:ext cx="365760" cy="365760"/>
          </a:xfrm>
          <a:prstGeom prst="rect">
            <a:avLst/>
          </a:prstGeom>
        </p:spPr>
      </p:pic>
      <p:sp>
        <p:nvSpPr>
          <p:cNvPr id="16" name="Text 11"/>
          <p:cNvSpPr/>
          <p:nvPr/>
        </p:nvSpPr>
        <p:spPr>
          <a:xfrm>
            <a:off x="1143000" y="2130552"/>
            <a:ext cx="301752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202C"/>
                </a:solidFill>
              </a:rPr>
              <a:t>bcrypt Password Hashing</a:t>
            </a:r>
            <a:endParaRPr lang="en-US" sz="1300" dirty="0"/>
          </a:p>
          <a:p>
            <a:pPr indent="0" marL="0">
              <a:buNone/>
            </a:pPr>
            <a:r>
              <a:rPr lang="en-US" sz="1000" dirty="0">
                <a:solidFill>
                  <a:srgbClr val="4A5568"/>
                </a:solidFill>
              </a:rPr>
              <a:t>Mã hóa mật khẩu với salt tự động</a:t>
            </a:r>
            <a:endParaRPr lang="en-US" sz="1300" dirty="0"/>
          </a:p>
        </p:txBody>
      </p:sp>
      <p:sp>
        <p:nvSpPr>
          <p:cNvPr id="17" name="Shape 12"/>
          <p:cNvSpPr/>
          <p:nvPr/>
        </p:nvSpPr>
        <p:spPr>
          <a:xfrm>
            <a:off x="4754880" y="2057400"/>
            <a:ext cx="3931920" cy="82296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18" name="Shape 13"/>
          <p:cNvSpPr/>
          <p:nvPr/>
        </p:nvSpPr>
        <p:spPr>
          <a:xfrm>
            <a:off x="4754880" y="2057400"/>
            <a:ext cx="54864" cy="822960"/>
          </a:xfrm>
          <a:prstGeom prst="rect">
            <a:avLst/>
          </a:prstGeom>
          <a:solidFill>
            <a:srgbClr val="1A365D"/>
          </a:solidFill>
          <a:ln/>
        </p:spPr>
      </p:sp>
      <p:pic>
        <p:nvPicPr>
          <p:cNvPr id="19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937760" y="2240280"/>
            <a:ext cx="365760" cy="365760"/>
          </a:xfrm>
          <a:prstGeom prst="rect">
            <a:avLst/>
          </a:prstGeom>
        </p:spPr>
      </p:pic>
      <p:sp>
        <p:nvSpPr>
          <p:cNvPr id="20" name="Text 14"/>
          <p:cNvSpPr/>
          <p:nvPr/>
        </p:nvSpPr>
        <p:spPr>
          <a:xfrm>
            <a:off x="5440680" y="2130552"/>
            <a:ext cx="301752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202C"/>
                </a:solidFill>
              </a:rPr>
              <a:t>Chống Brute-force</a:t>
            </a:r>
            <a:endParaRPr lang="en-US" sz="1300" dirty="0"/>
          </a:p>
          <a:p>
            <a:pPr indent="0" marL="0">
              <a:buNone/>
            </a:pPr>
            <a:r>
              <a:rPr lang="en-US" sz="1000" dirty="0">
                <a:solidFill>
                  <a:srgbClr val="4A5568"/>
                </a:solidFill>
              </a:rPr>
              <a:t>Khóa tài khoản 15 phút sau 5 lần đăng nhập sai</a:t>
            </a:r>
            <a:endParaRPr lang="en-US" sz="1300" dirty="0"/>
          </a:p>
        </p:txBody>
      </p:sp>
      <p:sp>
        <p:nvSpPr>
          <p:cNvPr id="21" name="Shape 15"/>
          <p:cNvSpPr/>
          <p:nvPr/>
        </p:nvSpPr>
        <p:spPr>
          <a:xfrm>
            <a:off x="457200" y="3017520"/>
            <a:ext cx="3931920" cy="82296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22" name="Shape 16"/>
          <p:cNvSpPr/>
          <p:nvPr/>
        </p:nvSpPr>
        <p:spPr>
          <a:xfrm>
            <a:off x="457200" y="3017520"/>
            <a:ext cx="54864" cy="822960"/>
          </a:xfrm>
          <a:prstGeom prst="rect">
            <a:avLst/>
          </a:prstGeom>
          <a:solidFill>
            <a:srgbClr val="1A365D"/>
          </a:solidFill>
          <a:ln/>
        </p:spPr>
      </p:sp>
      <p:pic>
        <p:nvPicPr>
          <p:cNvPr id="23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40080" y="3200400"/>
            <a:ext cx="365760" cy="365760"/>
          </a:xfrm>
          <a:prstGeom prst="rect">
            <a:avLst/>
          </a:prstGeom>
        </p:spPr>
      </p:pic>
      <p:sp>
        <p:nvSpPr>
          <p:cNvPr id="24" name="Text 17"/>
          <p:cNvSpPr/>
          <p:nvPr/>
        </p:nvSpPr>
        <p:spPr>
          <a:xfrm>
            <a:off x="1143000" y="3090672"/>
            <a:ext cx="301752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202C"/>
                </a:solidFill>
              </a:rPr>
              <a:t>httpOnly Cookie</a:t>
            </a:r>
            <a:endParaRPr lang="en-US" sz="1300" dirty="0"/>
          </a:p>
          <a:p>
            <a:pPr indent="0" marL="0">
              <a:buNone/>
            </a:pPr>
            <a:r>
              <a:rPr lang="en-US" sz="1000" dirty="0">
                <a:solidFill>
                  <a:srgbClr val="4A5568"/>
                </a:solidFill>
              </a:rPr>
              <a:t>JWT lưu trong cookie không truy cập từ JavaScript</a:t>
            </a:r>
            <a:endParaRPr lang="en-US" sz="1300" dirty="0"/>
          </a:p>
        </p:txBody>
      </p:sp>
      <p:sp>
        <p:nvSpPr>
          <p:cNvPr id="25" name="Shape 18"/>
          <p:cNvSpPr/>
          <p:nvPr/>
        </p:nvSpPr>
        <p:spPr>
          <a:xfrm>
            <a:off x="4754880" y="3017520"/>
            <a:ext cx="3931920" cy="82296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26" name="Shape 19"/>
          <p:cNvSpPr/>
          <p:nvPr/>
        </p:nvSpPr>
        <p:spPr>
          <a:xfrm>
            <a:off x="4754880" y="3017520"/>
            <a:ext cx="54864" cy="822960"/>
          </a:xfrm>
          <a:prstGeom prst="rect">
            <a:avLst/>
          </a:prstGeom>
          <a:solidFill>
            <a:srgbClr val="1A365D"/>
          </a:solidFill>
          <a:ln/>
        </p:spPr>
      </p:sp>
      <p:pic>
        <p:nvPicPr>
          <p:cNvPr id="27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937760" y="3200400"/>
            <a:ext cx="365760" cy="365760"/>
          </a:xfrm>
          <a:prstGeom prst="rect">
            <a:avLst/>
          </a:prstGeom>
        </p:spPr>
      </p:pic>
      <p:sp>
        <p:nvSpPr>
          <p:cNvPr id="28" name="Text 20"/>
          <p:cNvSpPr/>
          <p:nvPr/>
        </p:nvSpPr>
        <p:spPr>
          <a:xfrm>
            <a:off x="5440680" y="3090672"/>
            <a:ext cx="301752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202C"/>
                </a:solidFill>
              </a:rPr>
              <a:t>RBAC</a:t>
            </a:r>
            <a:endParaRPr lang="en-US" sz="1300" dirty="0"/>
          </a:p>
          <a:p>
            <a:pPr indent="0" marL="0">
              <a:buNone/>
            </a:pPr>
            <a:r>
              <a:rPr lang="en-US" sz="1000" dirty="0">
                <a:solidFill>
                  <a:srgbClr val="4A5568"/>
                </a:solidFill>
              </a:rPr>
              <a:t>Phân quyền Admin/Teacher theo resource:action</a:t>
            </a:r>
            <a:endParaRPr lang="en-US" sz="1300" dirty="0"/>
          </a:p>
        </p:txBody>
      </p:sp>
      <p:sp>
        <p:nvSpPr>
          <p:cNvPr id="29" name="Shape 21"/>
          <p:cNvSpPr/>
          <p:nvPr/>
        </p:nvSpPr>
        <p:spPr>
          <a:xfrm>
            <a:off x="457200" y="3977640"/>
            <a:ext cx="3931920" cy="82296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30" name="Shape 22"/>
          <p:cNvSpPr/>
          <p:nvPr/>
        </p:nvSpPr>
        <p:spPr>
          <a:xfrm>
            <a:off x="457200" y="3977640"/>
            <a:ext cx="54864" cy="822960"/>
          </a:xfrm>
          <a:prstGeom prst="rect">
            <a:avLst/>
          </a:prstGeom>
          <a:solidFill>
            <a:srgbClr val="1A365D"/>
          </a:solidFill>
          <a:ln/>
        </p:spPr>
      </p:sp>
      <p:pic>
        <p:nvPicPr>
          <p:cNvPr id="31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40080" y="4160520"/>
            <a:ext cx="365760" cy="365760"/>
          </a:xfrm>
          <a:prstGeom prst="rect">
            <a:avLst/>
          </a:prstGeom>
        </p:spPr>
      </p:pic>
      <p:sp>
        <p:nvSpPr>
          <p:cNvPr id="32" name="Text 23"/>
          <p:cNvSpPr/>
          <p:nvPr/>
        </p:nvSpPr>
        <p:spPr>
          <a:xfrm>
            <a:off x="1143000" y="4050792"/>
            <a:ext cx="301752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202C"/>
                </a:solidFill>
              </a:rPr>
              <a:t>Audit Trail</a:t>
            </a:r>
            <a:endParaRPr lang="en-US" sz="1300" dirty="0"/>
          </a:p>
          <a:p>
            <a:pPr indent="0" marL="0">
              <a:buNone/>
            </a:pPr>
            <a:r>
              <a:rPr lang="en-US" sz="1000" dirty="0">
                <a:solidFill>
                  <a:srgbClr val="4A5568"/>
                </a:solidFill>
              </a:rPr>
              <a:t>Ghi log mọi hành động Admin/Teacher</a:t>
            </a:r>
            <a:endParaRPr lang="en-US" sz="1300" dirty="0"/>
          </a:p>
        </p:txBody>
      </p:sp>
      <p:sp>
        <p:nvSpPr>
          <p:cNvPr id="33" name="Shape 24"/>
          <p:cNvSpPr/>
          <p:nvPr/>
        </p:nvSpPr>
        <p:spPr>
          <a:xfrm>
            <a:off x="4754880" y="3977640"/>
            <a:ext cx="3931920" cy="82296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34" name="Shape 25"/>
          <p:cNvSpPr/>
          <p:nvPr/>
        </p:nvSpPr>
        <p:spPr>
          <a:xfrm>
            <a:off x="4754880" y="3977640"/>
            <a:ext cx="54864" cy="822960"/>
          </a:xfrm>
          <a:prstGeom prst="rect">
            <a:avLst/>
          </a:prstGeom>
          <a:solidFill>
            <a:srgbClr val="1A365D"/>
          </a:solidFill>
          <a:ln/>
        </p:spPr>
      </p:sp>
      <p:pic>
        <p:nvPicPr>
          <p:cNvPr id="35" name="Image 7" descr="preencoded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4937760" y="4160520"/>
            <a:ext cx="365760" cy="365760"/>
          </a:xfrm>
          <a:prstGeom prst="rect">
            <a:avLst/>
          </a:prstGeom>
        </p:spPr>
      </p:pic>
      <p:sp>
        <p:nvSpPr>
          <p:cNvPr id="36" name="Text 26"/>
          <p:cNvSpPr/>
          <p:nvPr/>
        </p:nvSpPr>
        <p:spPr>
          <a:xfrm>
            <a:off x="5440680" y="4050792"/>
            <a:ext cx="301752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202C"/>
                </a:solidFill>
              </a:rPr>
              <a:t>Token Revocation</a:t>
            </a:r>
            <a:endParaRPr lang="en-US" sz="1300" dirty="0"/>
          </a:p>
          <a:p>
            <a:pPr indent="0" marL="0">
              <a:buNone/>
            </a:pPr>
            <a:r>
              <a:rPr lang="en-US" sz="1000" dirty="0">
                <a:solidFill>
                  <a:srgbClr val="4A5568"/>
                </a:solidFill>
              </a:rPr>
              <a:t>Thu hồi token khi logout, TTL auto-cleanup</a:t>
            </a:r>
            <a:endParaRPr lang="en-US" sz="13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7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1A365D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137160"/>
            <a:ext cx="78638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RBAC — PHÂN QUYỀN CHI TIẾT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640080" y="1051560"/>
            <a:ext cx="7863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A0AE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 sánh quyền Admin vs Teacher</a:t>
            </a:r>
            <a:endParaRPr lang="en-US" sz="1400" dirty="0"/>
          </a:p>
        </p:txBody>
      </p:sp>
      <p:graphicFrame>
        <p:nvGraphicFramePr>
          <p:cNvPr id="1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731520" y="1097280"/>
          <a:ext cx="7680960" cy="914400"/>
        </p:xfrm>
        <a:graphic>
          <a:graphicData uri="http://schemas.openxmlformats.org/drawingml/2006/table">
            <a:tbl>
              <a:tblPr/>
              <a:tblGrid>
                <a:gridCol w="3200400"/>
                <a:gridCol w="2240280"/>
                <a:gridCol w="2240280"/>
              </a:tblGrid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Chức năng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365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Admin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365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Teacher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365D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Quản lý Users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38A16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✓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E53E3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✗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Quản lý Groups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38A16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Tất cả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DD6B2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Chỉ nhóm mình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Quản lý Agents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38A16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Tất cả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DD6B2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Chỉ nhóm mình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Whitelist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38A16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Tất cả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DD6B2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Chỉ nhóm mình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Xem Logs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38A16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Tất cả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DD6B2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Chỉ nhóm mình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API Keys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38A16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✓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E53E3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✗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Audit Logs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38A16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✓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E53E3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✗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Whitelist Profiles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38A16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✓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DD6B2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✓ (nhóm mình)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Export/Delete Logs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38A16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✓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E53E3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✗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7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1A365D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137160"/>
            <a:ext cx="78638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WHITELIST PROFILE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640080" y="1051560"/>
            <a:ext cx="7863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A0AE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Tính năng cho Teacher quản lý bài học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1371600" y="1371600"/>
            <a:ext cx="640080" cy="640080"/>
          </a:xfrm>
          <a:prstGeom prst="ellipse">
            <a:avLst/>
          </a:prstGeom>
          <a:solidFill>
            <a:srgbClr val="2B6CB0"/>
          </a:solidFill>
          <a:ln/>
        </p:spPr>
      </p:sp>
      <p:sp>
        <p:nvSpPr>
          <p:cNvPr id="6" name="Text 4"/>
          <p:cNvSpPr/>
          <p:nvPr/>
        </p:nvSpPr>
        <p:spPr>
          <a:xfrm>
            <a:off x="1371600" y="137160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</a:rPr>
              <a:t>1</a:t>
            </a:r>
            <a:endParaRPr lang="en-US" sz="2200" dirty="0"/>
          </a:p>
        </p:txBody>
      </p:sp>
      <p:sp>
        <p:nvSpPr>
          <p:cNvPr id="7" name="Shape 5"/>
          <p:cNvSpPr/>
          <p:nvPr/>
        </p:nvSpPr>
        <p:spPr>
          <a:xfrm>
            <a:off x="457200" y="2194560"/>
            <a:ext cx="2560320" cy="20116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457200" y="2194560"/>
            <a:ext cx="54864" cy="2011680"/>
          </a:xfrm>
          <a:prstGeom prst="rect">
            <a:avLst/>
          </a:prstGeom>
          <a:solidFill>
            <a:srgbClr val="2B6CB0"/>
          </a:solidFill>
          <a:ln/>
        </p:spPr>
      </p:sp>
      <p:sp>
        <p:nvSpPr>
          <p:cNvPr id="9" name="Text 7"/>
          <p:cNvSpPr/>
          <p:nvPr/>
        </p:nvSpPr>
        <p:spPr>
          <a:xfrm>
            <a:off x="640080" y="2286000"/>
            <a:ext cx="219456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1A202C"/>
                </a:solidFill>
              </a:rPr>
              <a:t>Teacher tạo Profile</a:t>
            </a:r>
            <a:endParaRPr lang="en-US" sz="1400" dirty="0"/>
          </a:p>
          <a:p>
            <a:pPr indent="0" marL="0">
              <a:buNone/>
            </a:pPr>
            <a:endParaRPr lang="en-US" sz="1400" dirty="0"/>
          </a:p>
          <a:p>
            <a:pPr indent="0" marL="0">
              <a:buNone/>
            </a:pPr>
            <a:r>
              <a:rPr lang="en-US" sz="1100" dirty="0">
                <a:solidFill>
                  <a:srgbClr val="4A5568"/>
                </a:solidFill>
              </a:rPr>
              <a:t>Tạo bộ whitelist riêng cho bài học</a:t>
            </a:r>
            <a:endParaRPr lang="en-US" sz="1400" dirty="0"/>
          </a:p>
          <a:p>
            <a:pPr indent="0" marL="0">
              <a:buNone/>
            </a:pPr>
            <a:r>
              <a:rPr lang="en-US" sz="1100" dirty="0">
                <a:solidFill>
                  <a:srgbClr val="4A5568"/>
                </a:solidFill>
              </a:rPr>
              <a:t>Vd: "Bài thực hành Web" gồm</a:t>
            </a:r>
            <a:endParaRPr lang="en-US" sz="1400" dirty="0"/>
          </a:p>
          <a:p>
            <a:pPr indent="0" marL="0">
              <a:buNone/>
            </a:pPr>
            <a:r>
              <a:rPr lang="en-US" sz="1100" dirty="0">
                <a:solidFill>
                  <a:srgbClr val="4A5568"/>
                </a:solidFill>
              </a:rPr>
              <a:t>w3schools.com, codepen.io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3017520" y="2926080"/>
            <a:ext cx="320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A0AEC0"/>
                </a:solidFill>
              </a:rPr>
              <a:t>→</a:t>
            </a:r>
            <a:endParaRPr lang="en-US" sz="2400" dirty="0"/>
          </a:p>
        </p:txBody>
      </p:sp>
      <p:sp>
        <p:nvSpPr>
          <p:cNvPr id="11" name="Shape 9"/>
          <p:cNvSpPr/>
          <p:nvPr/>
        </p:nvSpPr>
        <p:spPr>
          <a:xfrm>
            <a:off x="4251960" y="1371600"/>
            <a:ext cx="640080" cy="640080"/>
          </a:xfrm>
          <a:prstGeom prst="ellipse">
            <a:avLst/>
          </a:prstGeom>
          <a:solidFill>
            <a:srgbClr val="38A169"/>
          </a:solidFill>
          <a:ln/>
        </p:spPr>
      </p:sp>
      <p:sp>
        <p:nvSpPr>
          <p:cNvPr id="12" name="Text 10"/>
          <p:cNvSpPr/>
          <p:nvPr/>
        </p:nvSpPr>
        <p:spPr>
          <a:xfrm>
            <a:off x="4251960" y="137160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</a:rPr>
              <a:t>2</a:t>
            </a:r>
            <a:endParaRPr lang="en-US" sz="2200" dirty="0"/>
          </a:p>
        </p:txBody>
      </p:sp>
      <p:sp>
        <p:nvSpPr>
          <p:cNvPr id="13" name="Shape 11"/>
          <p:cNvSpPr/>
          <p:nvPr/>
        </p:nvSpPr>
        <p:spPr>
          <a:xfrm>
            <a:off x="3337560" y="2194560"/>
            <a:ext cx="2560320" cy="20116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3337560" y="2194560"/>
            <a:ext cx="54864" cy="2011680"/>
          </a:xfrm>
          <a:prstGeom prst="rect">
            <a:avLst/>
          </a:prstGeom>
          <a:solidFill>
            <a:srgbClr val="38A169"/>
          </a:solidFill>
          <a:ln/>
        </p:spPr>
      </p:sp>
      <p:sp>
        <p:nvSpPr>
          <p:cNvPr id="15" name="Text 13"/>
          <p:cNvSpPr/>
          <p:nvPr/>
        </p:nvSpPr>
        <p:spPr>
          <a:xfrm>
            <a:off x="3520440" y="2286000"/>
            <a:ext cx="219456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1A202C"/>
                </a:solidFill>
              </a:rPr>
              <a:t>Kích hoạt Profile</a:t>
            </a:r>
            <a:endParaRPr lang="en-US" sz="1400" dirty="0"/>
          </a:p>
          <a:p>
            <a:pPr indent="0" marL="0">
              <a:buNone/>
            </a:pPr>
            <a:endParaRPr lang="en-US" sz="1400" dirty="0"/>
          </a:p>
          <a:p>
            <a:pPr indent="0" marL="0">
              <a:buNone/>
            </a:pPr>
            <a:r>
              <a:rPr lang="en-US" sz="1100" dirty="0">
                <a:solidFill>
                  <a:srgbClr val="4A5568"/>
                </a:solidFill>
              </a:rPr>
              <a:t>Click Activate → Profile override</a:t>
            </a:r>
            <a:endParaRPr lang="en-US" sz="1400" dirty="0"/>
          </a:p>
          <a:p>
            <a:pPr indent="0" marL="0">
              <a:buNone/>
            </a:pPr>
            <a:r>
              <a:rPr lang="en-US" sz="1100" dirty="0">
                <a:solidFill>
                  <a:srgbClr val="4A5568"/>
                </a:solidFill>
              </a:rPr>
              <a:t>whitelist nhóm, Agent tự sync</a:t>
            </a:r>
            <a:endParaRPr lang="en-US" sz="1400" dirty="0"/>
          </a:p>
          <a:p>
            <a:pPr indent="0" marL="0">
              <a:buNone/>
            </a:pPr>
            <a:r>
              <a:rPr lang="en-US" sz="1100" dirty="0">
                <a:solidFill>
                  <a:srgbClr val="4A5568"/>
                </a:solidFill>
              </a:rPr>
              <a:t>whitelist mới trong 30 giây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5897880" y="2926080"/>
            <a:ext cx="320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A0AEC0"/>
                </a:solidFill>
              </a:rPr>
              <a:t>→</a:t>
            </a:r>
            <a:endParaRPr lang="en-US" sz="2400" dirty="0"/>
          </a:p>
        </p:txBody>
      </p:sp>
      <p:sp>
        <p:nvSpPr>
          <p:cNvPr id="17" name="Shape 15"/>
          <p:cNvSpPr/>
          <p:nvPr/>
        </p:nvSpPr>
        <p:spPr>
          <a:xfrm>
            <a:off x="7132320" y="1371600"/>
            <a:ext cx="640080" cy="640080"/>
          </a:xfrm>
          <a:prstGeom prst="ellipse">
            <a:avLst/>
          </a:prstGeom>
          <a:solidFill>
            <a:srgbClr val="DD6B20"/>
          </a:solidFill>
          <a:ln/>
        </p:spPr>
      </p:sp>
      <p:sp>
        <p:nvSpPr>
          <p:cNvPr id="18" name="Text 16"/>
          <p:cNvSpPr/>
          <p:nvPr/>
        </p:nvSpPr>
        <p:spPr>
          <a:xfrm>
            <a:off x="7132320" y="137160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</a:rPr>
              <a:t>3</a:t>
            </a:r>
            <a:endParaRPr lang="en-US" sz="2200" dirty="0"/>
          </a:p>
        </p:txBody>
      </p:sp>
      <p:sp>
        <p:nvSpPr>
          <p:cNvPr id="19" name="Shape 17"/>
          <p:cNvSpPr/>
          <p:nvPr/>
        </p:nvSpPr>
        <p:spPr>
          <a:xfrm>
            <a:off x="6217920" y="2194560"/>
            <a:ext cx="2560320" cy="20116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6217920" y="2194560"/>
            <a:ext cx="54864" cy="2011680"/>
          </a:xfrm>
          <a:prstGeom prst="rect">
            <a:avLst/>
          </a:prstGeom>
          <a:solidFill>
            <a:srgbClr val="DD6B20"/>
          </a:solidFill>
          <a:ln/>
        </p:spPr>
      </p:sp>
      <p:sp>
        <p:nvSpPr>
          <p:cNvPr id="21" name="Text 19"/>
          <p:cNvSpPr/>
          <p:nvPr/>
        </p:nvSpPr>
        <p:spPr>
          <a:xfrm>
            <a:off x="6400800" y="2286000"/>
            <a:ext cx="219456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1A202C"/>
                </a:solidFill>
              </a:rPr>
              <a:t>Hết giờ → Tắt</a:t>
            </a:r>
            <a:endParaRPr lang="en-US" sz="1400" dirty="0"/>
          </a:p>
          <a:p>
            <a:pPr indent="0" marL="0">
              <a:buNone/>
            </a:pPr>
            <a:endParaRPr lang="en-US" sz="1400" dirty="0"/>
          </a:p>
          <a:p>
            <a:pPr indent="0" marL="0">
              <a:buNone/>
            </a:pPr>
            <a:r>
              <a:rPr lang="en-US" sz="1100" dirty="0">
                <a:solidFill>
                  <a:srgbClr val="4A5568"/>
                </a:solidFill>
              </a:rPr>
              <a:t>Click Deactivate → Whitelist</a:t>
            </a:r>
            <a:endParaRPr lang="en-US" sz="1400" dirty="0"/>
          </a:p>
          <a:p>
            <a:pPr indent="0" marL="0">
              <a:buNone/>
            </a:pPr>
            <a:r>
              <a:rPr lang="en-US" sz="1100" dirty="0">
                <a:solidFill>
                  <a:srgbClr val="4A5568"/>
                </a:solidFill>
              </a:rPr>
              <a:t>trở về mặc định của nhóm</a:t>
            </a:r>
            <a:endParaRPr lang="en-US" sz="1400" dirty="0"/>
          </a:p>
          <a:p>
            <a:pPr indent="0" marL="0">
              <a:buNone/>
            </a:pPr>
            <a:r>
              <a:rPr lang="en-US" sz="1100" dirty="0">
                <a:solidFill>
                  <a:srgbClr val="4A5568"/>
                </a:solidFill>
              </a:rPr>
              <a:t>Không ảnh hưởng whitelist gốc</a:t>
            </a:r>
            <a:endParaRPr lang="en-US" sz="14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7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1A365D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137160"/>
            <a:ext cx="78638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KẾT QUẢ ĐẠT ĐƯỢC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457200" y="1097280"/>
            <a:ext cx="1828800" cy="13716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457200" y="1143000"/>
            <a:ext cx="1828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2B6CB0"/>
                </a:solidFill>
              </a:rPr>
              <a:t>~50</a:t>
            </a:r>
            <a:endParaRPr lang="en-US" sz="4000" dirty="0"/>
          </a:p>
        </p:txBody>
      </p:sp>
      <p:sp>
        <p:nvSpPr>
          <p:cNvPr id="6" name="Text 4"/>
          <p:cNvSpPr/>
          <p:nvPr/>
        </p:nvSpPr>
        <p:spPr>
          <a:xfrm>
            <a:off x="457200" y="1874520"/>
            <a:ext cx="1828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4A5568"/>
                </a:solidFill>
              </a:rPr>
              <a:t>API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4A5568"/>
                </a:solidFill>
              </a:rPr>
              <a:t>Endpoints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2606040" y="1097280"/>
            <a:ext cx="1828800" cy="13716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2606040" y="1143000"/>
            <a:ext cx="1828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319795"/>
                </a:solidFill>
              </a:rPr>
              <a:t>12</a:t>
            </a:r>
            <a:endParaRPr lang="en-US" sz="4000" dirty="0"/>
          </a:p>
        </p:txBody>
      </p:sp>
      <p:sp>
        <p:nvSpPr>
          <p:cNvPr id="9" name="Text 7"/>
          <p:cNvSpPr/>
          <p:nvPr/>
        </p:nvSpPr>
        <p:spPr>
          <a:xfrm>
            <a:off x="2606040" y="1874520"/>
            <a:ext cx="1828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4A5568"/>
                </a:solidFill>
              </a:rPr>
              <a:t>MongoDB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4A5568"/>
                </a:solidFill>
              </a:rPr>
              <a:t>Collections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4754880" y="1097280"/>
            <a:ext cx="1828800" cy="13716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4754880" y="1143000"/>
            <a:ext cx="1828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38A169"/>
                </a:solidFill>
              </a:rPr>
              <a:t>5</a:t>
            </a:r>
            <a:endParaRPr lang="en-US" sz="4000" dirty="0"/>
          </a:p>
        </p:txBody>
      </p:sp>
      <p:sp>
        <p:nvSpPr>
          <p:cNvPr id="12" name="Text 10"/>
          <p:cNvSpPr/>
          <p:nvPr/>
        </p:nvSpPr>
        <p:spPr>
          <a:xfrm>
            <a:off x="4754880" y="1874520"/>
            <a:ext cx="1828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4A5568"/>
                </a:solidFill>
              </a:rPr>
              <a:t>GUI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4A5568"/>
                </a:solidFill>
              </a:rPr>
              <a:t>Views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6903720" y="1097280"/>
            <a:ext cx="1828800" cy="13716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6903720" y="1143000"/>
            <a:ext cx="1828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DD6B20"/>
                </a:solidFill>
              </a:rPr>
              <a:t>7</a:t>
            </a:r>
            <a:endParaRPr lang="en-US" sz="4000" dirty="0"/>
          </a:p>
        </p:txBody>
      </p:sp>
      <p:sp>
        <p:nvSpPr>
          <p:cNvPr id="15" name="Text 13"/>
          <p:cNvSpPr/>
          <p:nvPr/>
        </p:nvSpPr>
        <p:spPr>
          <a:xfrm>
            <a:off x="6903720" y="1874520"/>
            <a:ext cx="1828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4A5568"/>
                </a:solidFill>
              </a:rPr>
              <a:t>Test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4A5568"/>
                </a:solidFill>
              </a:rPr>
              <a:t>Files</a:t>
            </a:r>
            <a:endParaRPr lang="en-US" sz="1100" dirty="0"/>
          </a:p>
        </p:txBody>
      </p:sp>
      <p:pic>
        <p:nvPicPr>
          <p:cNvPr id="1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40080" y="2770632"/>
            <a:ext cx="274320" cy="274320"/>
          </a:xfrm>
          <a:prstGeom prst="rect">
            <a:avLst/>
          </a:prstGeom>
        </p:spPr>
      </p:pic>
      <p:sp>
        <p:nvSpPr>
          <p:cNvPr id="17" name="Text 14"/>
          <p:cNvSpPr/>
          <p:nvPr/>
        </p:nvSpPr>
        <p:spPr>
          <a:xfrm>
            <a:off x="1051560" y="2743200"/>
            <a:ext cx="75895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D3748"/>
                </a:solidFill>
              </a:rPr>
              <a:t>RBAC 2 roles (Admin/Teacher) với hệ thống permission chi tiết</a:t>
            </a:r>
            <a:endParaRPr lang="en-US" sz="1300" dirty="0"/>
          </a:p>
        </p:txBody>
      </p:sp>
      <p:pic>
        <p:nvPicPr>
          <p:cNvPr id="18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3154680"/>
            <a:ext cx="274320" cy="274320"/>
          </a:xfrm>
          <a:prstGeom prst="rect">
            <a:avLst/>
          </a:prstGeom>
        </p:spPr>
      </p:pic>
      <p:sp>
        <p:nvSpPr>
          <p:cNvPr id="19" name="Text 15"/>
          <p:cNvSpPr/>
          <p:nvPr/>
        </p:nvSpPr>
        <p:spPr>
          <a:xfrm>
            <a:off x="1051560" y="3127248"/>
            <a:ext cx="75895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D3748"/>
                </a:solidFill>
              </a:rPr>
              <a:t>Whitelist-based firewall tự động trên Windows</a:t>
            </a:r>
            <a:endParaRPr lang="en-US" sz="1300" dirty="0"/>
          </a:p>
        </p:txBody>
      </p:sp>
      <p:pic>
        <p:nvPicPr>
          <p:cNvPr id="20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0080" y="3538728"/>
            <a:ext cx="274320" cy="274320"/>
          </a:xfrm>
          <a:prstGeom prst="rect">
            <a:avLst/>
          </a:prstGeom>
        </p:spPr>
      </p:pic>
      <p:sp>
        <p:nvSpPr>
          <p:cNvPr id="21" name="Text 16"/>
          <p:cNvSpPr/>
          <p:nvPr/>
        </p:nvSpPr>
        <p:spPr>
          <a:xfrm>
            <a:off x="1051560" y="3511296"/>
            <a:ext cx="75895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D3748"/>
                </a:solidFill>
              </a:rPr>
              <a:t>Packet capture và domain extraction (DNS/HTTP/SNI)</a:t>
            </a:r>
            <a:endParaRPr lang="en-US" sz="1300" dirty="0"/>
          </a:p>
        </p:txBody>
      </p:sp>
      <p:pic>
        <p:nvPicPr>
          <p:cNvPr id="22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0080" y="3922776"/>
            <a:ext cx="274320" cy="274320"/>
          </a:xfrm>
          <a:prstGeom prst="rect">
            <a:avLst/>
          </a:prstGeom>
        </p:spPr>
      </p:pic>
      <p:sp>
        <p:nvSpPr>
          <p:cNvPr id="23" name="Text 17"/>
          <p:cNvSpPr/>
          <p:nvPr/>
        </p:nvSpPr>
        <p:spPr>
          <a:xfrm>
            <a:off x="1051560" y="3895344"/>
            <a:ext cx="75895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D3748"/>
                </a:solidFill>
              </a:rPr>
              <a:t>Audit trail, session management, token revocation</a:t>
            </a:r>
            <a:endParaRPr lang="en-US" sz="1300" dirty="0"/>
          </a:p>
        </p:txBody>
      </p:sp>
      <p:pic>
        <p:nvPicPr>
          <p:cNvPr id="24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40080" y="4306824"/>
            <a:ext cx="274320" cy="274320"/>
          </a:xfrm>
          <a:prstGeom prst="rect">
            <a:avLst/>
          </a:prstGeom>
        </p:spPr>
      </p:pic>
      <p:sp>
        <p:nvSpPr>
          <p:cNvPr id="25" name="Text 18"/>
          <p:cNvSpPr/>
          <p:nvPr/>
        </p:nvSpPr>
        <p:spPr>
          <a:xfrm>
            <a:off x="1051560" y="4279392"/>
            <a:ext cx="75895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D3748"/>
                </a:solidFill>
              </a:rPr>
              <a:t>Build executable SAINT.exe với PyInstaller</a:t>
            </a:r>
            <a:endParaRPr lang="en-US" sz="1300" dirty="0"/>
          </a:p>
        </p:txBody>
      </p:sp>
      <p:pic>
        <p:nvPicPr>
          <p:cNvPr id="26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40080" y="4690872"/>
            <a:ext cx="274320" cy="274320"/>
          </a:xfrm>
          <a:prstGeom prst="rect">
            <a:avLst/>
          </a:prstGeom>
        </p:spPr>
      </p:pic>
      <p:sp>
        <p:nvSpPr>
          <p:cNvPr id="27" name="Text 19"/>
          <p:cNvSpPr/>
          <p:nvPr/>
        </p:nvSpPr>
        <p:spPr>
          <a:xfrm>
            <a:off x="1051560" y="4663440"/>
            <a:ext cx="75895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D3748"/>
                </a:solidFill>
              </a:rPr>
              <a:t>Real-time monitoring với WebSocket + Signals</a:t>
            </a:r>
            <a:endParaRPr lang="en-US" sz="13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7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1A365D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137160"/>
            <a:ext cx="78638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KẾT LUẬN &amp; HƯỚNG PHÁT TRIỂN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457200" y="1097280"/>
            <a:ext cx="3931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38A169"/>
                </a:solidFill>
              </a:rPr>
              <a:t>Đã đạt được</a:t>
            </a:r>
            <a:endParaRPr lang="en-US" sz="1600" dirty="0"/>
          </a:p>
        </p:txBody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1554480"/>
            <a:ext cx="228600" cy="22860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914400" y="1536192"/>
            <a:ext cx="3474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D3748"/>
                </a:solidFill>
              </a:rPr>
              <a:t>Hệ thống Client-Server hoạt động ổn định</a:t>
            </a:r>
            <a:endParaRPr lang="en-US" sz="1200" dirty="0"/>
          </a:p>
        </p:txBody>
      </p:sp>
      <p:pic>
        <p:nvPicPr>
          <p:cNvPr id="7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1920240"/>
            <a:ext cx="228600" cy="228600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914400" y="1901952"/>
            <a:ext cx="3474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D3748"/>
                </a:solidFill>
              </a:rPr>
              <a:t>Giải quyết bài toán quản lý mạng giáo dục</a:t>
            </a:r>
            <a:endParaRPr lang="en-US" sz="1200" dirty="0"/>
          </a:p>
        </p:txBody>
      </p:sp>
      <p:pic>
        <p:nvPicPr>
          <p:cNvPr id="9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8640" y="2286000"/>
            <a:ext cx="228600" cy="228600"/>
          </a:xfrm>
          <a:prstGeom prst="rect">
            <a:avLst/>
          </a:prstGeom>
        </p:spPr>
      </p:pic>
      <p:sp>
        <p:nvSpPr>
          <p:cNvPr id="10" name="Text 5"/>
          <p:cNvSpPr/>
          <p:nvPr/>
        </p:nvSpPr>
        <p:spPr>
          <a:xfrm>
            <a:off x="914400" y="2267712"/>
            <a:ext cx="3474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D3748"/>
                </a:solidFill>
              </a:rPr>
              <a:t>Áp dụng kỹ thuật bảo mật hiện đại (JWT, RBAC, bcrypt)</a:t>
            </a:r>
            <a:endParaRPr lang="en-US" sz="1200" dirty="0"/>
          </a:p>
        </p:txBody>
      </p:sp>
      <p:pic>
        <p:nvPicPr>
          <p:cNvPr id="11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48640" y="2651760"/>
            <a:ext cx="228600" cy="228600"/>
          </a:xfrm>
          <a:prstGeom prst="rect">
            <a:avLst/>
          </a:prstGeom>
        </p:spPr>
      </p:pic>
      <p:sp>
        <p:nvSpPr>
          <p:cNvPr id="12" name="Text 6"/>
          <p:cNvSpPr/>
          <p:nvPr/>
        </p:nvSpPr>
        <p:spPr>
          <a:xfrm>
            <a:off x="914400" y="2633472"/>
            <a:ext cx="3474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D3748"/>
                </a:solidFill>
              </a:rPr>
              <a:t>Giao diện GUI trực quan, dễ sử dụng</a:t>
            </a:r>
            <a:endParaRPr lang="en-US" sz="1200" dirty="0"/>
          </a:p>
        </p:txBody>
      </p:sp>
      <p:sp>
        <p:nvSpPr>
          <p:cNvPr id="13" name="Text 7"/>
          <p:cNvSpPr/>
          <p:nvPr/>
        </p:nvSpPr>
        <p:spPr>
          <a:xfrm>
            <a:off x="457200" y="3108960"/>
            <a:ext cx="3931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DD6B20"/>
                </a:solidFill>
              </a:rPr>
              <a:t>Hạn chế</a:t>
            </a:r>
            <a:endParaRPr lang="en-US" sz="1600" dirty="0"/>
          </a:p>
        </p:txBody>
      </p:sp>
      <p:pic>
        <p:nvPicPr>
          <p:cNvPr id="14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48640" y="3566160"/>
            <a:ext cx="228600" cy="228600"/>
          </a:xfrm>
          <a:prstGeom prst="rect">
            <a:avLst/>
          </a:prstGeom>
        </p:spPr>
      </p:pic>
      <p:sp>
        <p:nvSpPr>
          <p:cNvPr id="15" name="Text 8"/>
          <p:cNvSpPr/>
          <p:nvPr/>
        </p:nvSpPr>
        <p:spPr>
          <a:xfrm>
            <a:off x="914400" y="3547872"/>
            <a:ext cx="3474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D3748"/>
                </a:solidFill>
              </a:rPr>
              <a:t>Chỉ hỗ trợ Windows</a:t>
            </a:r>
            <a:endParaRPr lang="en-US" sz="1200" dirty="0"/>
          </a:p>
        </p:txBody>
      </p:sp>
      <p:pic>
        <p:nvPicPr>
          <p:cNvPr id="16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48640" y="3931920"/>
            <a:ext cx="228600" cy="228600"/>
          </a:xfrm>
          <a:prstGeom prst="rect">
            <a:avLst/>
          </a:prstGeom>
        </p:spPr>
      </p:pic>
      <p:sp>
        <p:nvSpPr>
          <p:cNvPr id="17" name="Text 9"/>
          <p:cNvSpPr/>
          <p:nvPr/>
        </p:nvSpPr>
        <p:spPr>
          <a:xfrm>
            <a:off x="914400" y="3913632"/>
            <a:ext cx="3474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D3748"/>
                </a:solidFill>
              </a:rPr>
              <a:t>Chưa có SPA frontend hiện đại</a:t>
            </a:r>
            <a:endParaRPr lang="en-US" sz="1200" dirty="0"/>
          </a:p>
        </p:txBody>
      </p:sp>
      <p:pic>
        <p:nvPicPr>
          <p:cNvPr id="18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48640" y="4297680"/>
            <a:ext cx="228600" cy="228600"/>
          </a:xfrm>
          <a:prstGeom prst="rect">
            <a:avLst/>
          </a:prstGeom>
        </p:spPr>
      </p:pic>
      <p:sp>
        <p:nvSpPr>
          <p:cNvPr id="19" name="Text 10"/>
          <p:cNvSpPr/>
          <p:nvPr/>
        </p:nvSpPr>
        <p:spPr>
          <a:xfrm>
            <a:off x="914400" y="4279392"/>
            <a:ext cx="3474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D3748"/>
                </a:solidFill>
              </a:rPr>
              <a:t>Chưa containerize (Docker)</a:t>
            </a:r>
            <a:endParaRPr lang="en-US" sz="1200" dirty="0"/>
          </a:p>
        </p:txBody>
      </p:sp>
      <p:sp>
        <p:nvSpPr>
          <p:cNvPr id="20" name="Text 11"/>
          <p:cNvSpPr/>
          <p:nvPr/>
        </p:nvSpPr>
        <p:spPr>
          <a:xfrm>
            <a:off x="4846320" y="1097280"/>
            <a:ext cx="3931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B6CB0"/>
                </a:solidFill>
              </a:rPr>
              <a:t>Hướng phát triển</a:t>
            </a:r>
            <a:endParaRPr lang="en-US" sz="1600" dirty="0"/>
          </a:p>
        </p:txBody>
      </p:sp>
      <p:sp>
        <p:nvSpPr>
          <p:cNvPr id="21" name="Shape 12"/>
          <p:cNvSpPr/>
          <p:nvPr/>
        </p:nvSpPr>
        <p:spPr>
          <a:xfrm>
            <a:off x="4846320" y="1554480"/>
            <a:ext cx="3931920" cy="4572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22" name="Shape 13"/>
          <p:cNvSpPr/>
          <p:nvPr/>
        </p:nvSpPr>
        <p:spPr>
          <a:xfrm>
            <a:off x="4846320" y="1554480"/>
            <a:ext cx="54864" cy="457200"/>
          </a:xfrm>
          <a:prstGeom prst="rect">
            <a:avLst/>
          </a:prstGeom>
          <a:solidFill>
            <a:srgbClr val="2B6CB0"/>
          </a:solidFill>
          <a:ln/>
        </p:spPr>
      </p:sp>
      <p:pic>
        <p:nvPicPr>
          <p:cNvPr id="23" name="Image 7" descr="preencoded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5074920" y="1627632"/>
            <a:ext cx="274320" cy="274320"/>
          </a:xfrm>
          <a:prstGeom prst="rect">
            <a:avLst/>
          </a:prstGeom>
        </p:spPr>
      </p:pic>
      <p:sp>
        <p:nvSpPr>
          <p:cNvPr id="24" name="Text 14"/>
          <p:cNvSpPr/>
          <p:nvPr/>
        </p:nvSpPr>
        <p:spPr>
          <a:xfrm>
            <a:off x="5486400" y="1600200"/>
            <a:ext cx="3108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D3748"/>
                </a:solidFill>
              </a:rPr>
              <a:t>Hỗ trợ Linux/macOS</a:t>
            </a:r>
            <a:endParaRPr lang="en-US" sz="1200" dirty="0"/>
          </a:p>
        </p:txBody>
      </p:sp>
      <p:sp>
        <p:nvSpPr>
          <p:cNvPr id="25" name="Shape 15"/>
          <p:cNvSpPr/>
          <p:nvPr/>
        </p:nvSpPr>
        <p:spPr>
          <a:xfrm>
            <a:off x="4846320" y="2103120"/>
            <a:ext cx="3931920" cy="4572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26" name="Shape 16"/>
          <p:cNvSpPr/>
          <p:nvPr/>
        </p:nvSpPr>
        <p:spPr>
          <a:xfrm>
            <a:off x="4846320" y="2103120"/>
            <a:ext cx="54864" cy="457200"/>
          </a:xfrm>
          <a:prstGeom prst="rect">
            <a:avLst/>
          </a:prstGeom>
          <a:solidFill>
            <a:srgbClr val="2B6CB0"/>
          </a:solidFill>
          <a:ln/>
        </p:spPr>
      </p:sp>
      <p:pic>
        <p:nvPicPr>
          <p:cNvPr id="27" name="Image 8" descr="preencoded.png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5074920" y="2176272"/>
            <a:ext cx="274320" cy="274320"/>
          </a:xfrm>
          <a:prstGeom prst="rect">
            <a:avLst/>
          </a:prstGeom>
        </p:spPr>
      </p:pic>
      <p:sp>
        <p:nvSpPr>
          <p:cNvPr id="28" name="Text 17"/>
          <p:cNvSpPr/>
          <p:nvPr/>
        </p:nvSpPr>
        <p:spPr>
          <a:xfrm>
            <a:off x="5486400" y="2148840"/>
            <a:ext cx="3108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D3748"/>
                </a:solidFill>
              </a:rPr>
              <a:t>React/Vue SPA frontend</a:t>
            </a:r>
            <a:endParaRPr lang="en-US" sz="1200" dirty="0"/>
          </a:p>
        </p:txBody>
      </p:sp>
      <p:sp>
        <p:nvSpPr>
          <p:cNvPr id="29" name="Shape 18"/>
          <p:cNvSpPr/>
          <p:nvPr/>
        </p:nvSpPr>
        <p:spPr>
          <a:xfrm>
            <a:off x="4846320" y="2651760"/>
            <a:ext cx="3931920" cy="4572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30" name="Shape 19"/>
          <p:cNvSpPr/>
          <p:nvPr/>
        </p:nvSpPr>
        <p:spPr>
          <a:xfrm>
            <a:off x="4846320" y="2651760"/>
            <a:ext cx="54864" cy="457200"/>
          </a:xfrm>
          <a:prstGeom prst="rect">
            <a:avLst/>
          </a:prstGeom>
          <a:solidFill>
            <a:srgbClr val="2B6CB0"/>
          </a:solidFill>
          <a:ln/>
        </p:spPr>
      </p:sp>
      <p:pic>
        <p:nvPicPr>
          <p:cNvPr id="31" name="Image 9" descr="preencoded.png">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5074920" y="2724912"/>
            <a:ext cx="274320" cy="274320"/>
          </a:xfrm>
          <a:prstGeom prst="rect">
            <a:avLst/>
          </a:prstGeom>
        </p:spPr>
      </p:pic>
      <p:sp>
        <p:nvSpPr>
          <p:cNvPr id="32" name="Text 20"/>
          <p:cNvSpPr/>
          <p:nvPr/>
        </p:nvSpPr>
        <p:spPr>
          <a:xfrm>
            <a:off x="5486400" y="2697480"/>
            <a:ext cx="3108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D3748"/>
                </a:solidFill>
              </a:rPr>
              <a:t>Docker + CI/CD pipeline</a:t>
            </a:r>
            <a:endParaRPr lang="en-US" sz="1200" dirty="0"/>
          </a:p>
        </p:txBody>
      </p:sp>
      <p:sp>
        <p:nvSpPr>
          <p:cNvPr id="33" name="Shape 21"/>
          <p:cNvSpPr/>
          <p:nvPr/>
        </p:nvSpPr>
        <p:spPr>
          <a:xfrm>
            <a:off x="4846320" y="3200400"/>
            <a:ext cx="3931920" cy="4572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34" name="Shape 22"/>
          <p:cNvSpPr/>
          <p:nvPr/>
        </p:nvSpPr>
        <p:spPr>
          <a:xfrm>
            <a:off x="4846320" y="3200400"/>
            <a:ext cx="54864" cy="457200"/>
          </a:xfrm>
          <a:prstGeom prst="rect">
            <a:avLst/>
          </a:prstGeom>
          <a:solidFill>
            <a:srgbClr val="2B6CB0"/>
          </a:solidFill>
          <a:ln/>
        </p:spPr>
      </p:sp>
      <p:pic>
        <p:nvPicPr>
          <p:cNvPr id="35" name="Image 10" descr="preencoded.png">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5074920" y="3273552"/>
            <a:ext cx="274320" cy="274320"/>
          </a:xfrm>
          <a:prstGeom prst="rect">
            <a:avLst/>
          </a:prstGeom>
        </p:spPr>
      </p:pic>
      <p:sp>
        <p:nvSpPr>
          <p:cNvPr id="36" name="Text 23"/>
          <p:cNvSpPr/>
          <p:nvPr/>
        </p:nvSpPr>
        <p:spPr>
          <a:xfrm>
            <a:off x="5486400" y="3246120"/>
            <a:ext cx="3108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D3748"/>
                </a:solidFill>
              </a:rPr>
              <a:t>Machine Learning phát hiện bất thường</a:t>
            </a:r>
            <a:endParaRPr lang="en-US" sz="1200" dirty="0"/>
          </a:p>
        </p:txBody>
      </p:sp>
      <p:sp>
        <p:nvSpPr>
          <p:cNvPr id="37" name="Shape 24"/>
          <p:cNvSpPr/>
          <p:nvPr/>
        </p:nvSpPr>
        <p:spPr>
          <a:xfrm>
            <a:off x="4846320" y="3749040"/>
            <a:ext cx="3931920" cy="4572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38" name="Shape 25"/>
          <p:cNvSpPr/>
          <p:nvPr/>
        </p:nvSpPr>
        <p:spPr>
          <a:xfrm>
            <a:off x="4846320" y="3749040"/>
            <a:ext cx="54864" cy="457200"/>
          </a:xfrm>
          <a:prstGeom prst="rect">
            <a:avLst/>
          </a:prstGeom>
          <a:solidFill>
            <a:srgbClr val="2B6CB0"/>
          </a:solidFill>
          <a:ln/>
        </p:spPr>
      </p:sp>
      <p:pic>
        <p:nvPicPr>
          <p:cNvPr id="39" name="Image 11" descr="preencoded.png">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5074920" y="3822192"/>
            <a:ext cx="274320" cy="274320"/>
          </a:xfrm>
          <a:prstGeom prst="rect">
            <a:avLst/>
          </a:prstGeom>
        </p:spPr>
      </p:pic>
      <p:sp>
        <p:nvSpPr>
          <p:cNvPr id="40" name="Text 26"/>
          <p:cNvSpPr/>
          <p:nvPr/>
        </p:nvSpPr>
        <p:spPr>
          <a:xfrm>
            <a:off x="5486400" y="3794760"/>
            <a:ext cx="3108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D3748"/>
                </a:solidFill>
              </a:rPr>
              <a:t>Mobile app cho giáo viên</a:t>
            </a:r>
            <a:endParaRPr lang="en-US" sz="1200" dirty="0"/>
          </a:p>
        </p:txBody>
      </p:sp>
      <p:sp>
        <p:nvSpPr>
          <p:cNvPr id="41" name="Shape 27"/>
          <p:cNvSpPr/>
          <p:nvPr/>
        </p:nvSpPr>
        <p:spPr>
          <a:xfrm>
            <a:off x="4846320" y="4297680"/>
            <a:ext cx="3931920" cy="4572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42" name="Shape 28"/>
          <p:cNvSpPr/>
          <p:nvPr/>
        </p:nvSpPr>
        <p:spPr>
          <a:xfrm>
            <a:off x="4846320" y="4297680"/>
            <a:ext cx="54864" cy="457200"/>
          </a:xfrm>
          <a:prstGeom prst="rect">
            <a:avLst/>
          </a:prstGeom>
          <a:solidFill>
            <a:srgbClr val="2B6CB0"/>
          </a:solidFill>
          <a:ln/>
        </p:spPr>
      </p:sp>
      <p:pic>
        <p:nvPicPr>
          <p:cNvPr id="43" name="Image 12" descr="preencoded.png">    </p:cNvPr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5074920" y="4370832"/>
            <a:ext cx="274320" cy="274320"/>
          </a:xfrm>
          <a:prstGeom prst="rect">
            <a:avLst/>
          </a:prstGeom>
        </p:spPr>
      </p:pic>
      <p:sp>
        <p:nvSpPr>
          <p:cNvPr id="44" name="Text 29"/>
          <p:cNvSpPr/>
          <p:nvPr/>
        </p:nvSpPr>
        <p:spPr>
          <a:xfrm>
            <a:off x="5486400" y="4343400"/>
            <a:ext cx="3108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D3748"/>
                </a:solidFill>
              </a:rPr>
              <a:t>Dashboard analytics nâng cao</a:t>
            </a:r>
            <a:endParaRPr lang="en-US" sz="12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1A365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319795"/>
          </a:solidFill>
          <a:ln/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023360" y="914400"/>
            <a:ext cx="1097280" cy="109728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457200" y="21031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CẢM ƠN HỘI ĐỒNG</a:t>
            </a:r>
            <a:endParaRPr lang="en-US" sz="3600" dirty="0"/>
          </a:p>
        </p:txBody>
      </p:sp>
      <p:sp>
        <p:nvSpPr>
          <p:cNvPr id="5" name="Text 2"/>
          <p:cNvSpPr/>
          <p:nvPr/>
        </p:nvSpPr>
        <p:spPr>
          <a:xfrm>
            <a:off x="457200" y="265176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ĐÃ LẮNG NGHE!</a:t>
            </a:r>
            <a:endParaRPr lang="en-US" sz="3600" dirty="0"/>
          </a:p>
        </p:txBody>
      </p:sp>
      <p:sp>
        <p:nvSpPr>
          <p:cNvPr id="6" name="Shape 3"/>
          <p:cNvSpPr/>
          <p:nvPr/>
        </p:nvSpPr>
        <p:spPr>
          <a:xfrm>
            <a:off x="3200400" y="3383280"/>
            <a:ext cx="2743200" cy="27432"/>
          </a:xfrm>
          <a:prstGeom prst="rect">
            <a:avLst/>
          </a:prstGeom>
          <a:solidFill>
            <a:srgbClr val="319795"/>
          </a:solidFill>
          <a:ln/>
        </p:spPr>
      </p:sp>
      <p:sp>
        <p:nvSpPr>
          <p:cNvPr id="7" name="Text 4"/>
          <p:cNvSpPr/>
          <p:nvPr/>
        </p:nvSpPr>
        <p:spPr>
          <a:xfrm>
            <a:off x="457200" y="3566160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800" b="1" spc="1200" kern="0" dirty="0">
                <a:solidFill>
                  <a:srgbClr val="31979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 &amp; A</a:t>
            </a:r>
            <a:endParaRPr lang="en-US" sz="4800" dirty="0"/>
          </a:p>
        </p:txBody>
      </p:sp>
      <p:sp>
        <p:nvSpPr>
          <p:cNvPr id="8" name="Text 5"/>
          <p:cNvSpPr/>
          <p:nvPr/>
        </p:nvSpPr>
        <p:spPr>
          <a:xfrm>
            <a:off x="457200" y="448056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i="1" dirty="0">
                <a:solidFill>
                  <a:srgbClr val="A0AE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SAINT — Security Agent Integrated Network Tool</a:t>
            </a:r>
            <a:endParaRPr lang="en-US" sz="1200" dirty="0"/>
          </a:p>
        </p:txBody>
      </p:sp>
      <p:sp>
        <p:nvSpPr>
          <p:cNvPr id="9" name="Shape 6"/>
          <p:cNvSpPr/>
          <p:nvPr/>
        </p:nvSpPr>
        <p:spPr>
          <a:xfrm>
            <a:off x="0" y="5088636"/>
            <a:ext cx="9144000" cy="54864"/>
          </a:xfrm>
          <a:prstGeom prst="rect">
            <a:avLst/>
          </a:prstGeom>
          <a:solidFill>
            <a:srgbClr val="319795"/>
          </a:solidFill>
          <a:ln/>
        </p:spPr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20</Slides>
  <Notes>20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20</vt:i4>
      </vt:variant>
    </vt:vector>
  </HeadingPairs>
  <TitlesOfParts>
    <vt:vector size="2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SAINT - Hệ thống quản lý bảo mật mạng phân tán</dc:title>
  <dc:subject>PptxGenJS Presentation</dc:subject>
  <dc:creator>SAINT DATN</dc:creator>
  <cp:lastModifiedBy>SAINT DATN</cp:lastModifiedBy>
  <cp:revision>1</cp:revision>
  <dcterms:created xsi:type="dcterms:W3CDTF">2026-04-02T03:35:09Z</dcterms:created>
  <dcterms:modified xsi:type="dcterms:W3CDTF">2026-04-02T03:35:09Z</dcterms:modified>
</cp:coreProperties>
</file>