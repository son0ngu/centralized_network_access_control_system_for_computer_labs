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5"/>
  </p:notesMasterIdLst>
  <p:handoutMasterIdLst>
    <p:handoutMasterId r:id="rId16"/>
  </p:handoutMasterIdLst>
  <p:sldIdLst>
    <p:sldId id="257" r:id="rId4"/>
    <p:sldId id="265" r:id="rId5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54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14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XÂY DỰNG HỆ THỐNG QUẢN LÝ BẢO MẬT MẠNG PHÂN TÁN CHO MÔI TRƯỜNG GIÁO DỤC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b="1" dirty="0"/>
              <a:t>SAINT - Security Agent Integrated Network Tool</a:t>
            </a:r>
          </a:p>
          <a:p>
            <a:endParaRPr lang="en-US" sz="1600" b="0" dirty="0"/>
          </a:p>
          <a:p>
            <a:r>
              <a:rPr lang="en-US" sz="1600" b="0" dirty="0"/>
              <a:t>Đồ án tốt nghiệp</a:t>
            </a:r>
          </a:p>
          <a:p>
            <a:r>
              <a:rPr lang="en-US" sz="1600" b="0" dirty="0"/>
              <a:t>Sinh viên: ................     GVHD: ................</a:t>
            </a: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Nội dung trình bày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sz="2000" dirty="0"/>
              <a:t>Giới thiệu đề tài</a:t>
            </a:r>
          </a:p>
          <a:p>
            <a:pPr marL="342900" indent="-342900">
              <a:buAutoNum type="arabicPeriod"/>
            </a:pPr>
            <a:r>
              <a:rPr lang="en-US" sz="2000" dirty="0"/>
              <a:t>Khảo sát yêu cầu</a:t>
            </a:r>
          </a:p>
          <a:p>
            <a:pPr marL="342900" indent="-342900">
              <a:buAutoNum type="arabicPeriod"/>
            </a:pPr>
            <a:r>
              <a:rPr lang="en-US" sz="2000" dirty="0"/>
              <a:t>Công nghệ sử dụng</a:t>
            </a:r>
          </a:p>
          <a:p>
            <a:pPr marL="342900" indent="-342900">
              <a:buAutoNum type="arabicPeriod"/>
            </a:pPr>
            <a:r>
              <a:rPr lang="en-US" sz="2000" dirty="0"/>
              <a:t>Thiết kế hệ thống</a:t>
            </a:r>
          </a:p>
          <a:p>
            <a:pPr marL="342900" indent="-342900">
              <a:buAutoNum type="arabicPeriod"/>
            </a:pPr>
            <a:r>
              <a:rPr lang="en-US" sz="2000" dirty="0"/>
              <a:t>Demo</a:t>
            </a:r>
          </a:p>
          <a:p>
            <a:pPr marL="342900" indent="-342900">
              <a:buAutoNum type="arabicPeriod"/>
            </a:pPr>
            <a:r>
              <a:rPr lang="en-US" sz="2000" dirty="0"/>
              <a:t>Kết luận &amp; Hướng phát triển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CẢM ƠN THẦY CÔ VÀ HỘI ĐỒNG</a:t>
            </a:r>
          </a:p>
        </p:txBody>
      </p:sp>
      <p:sp>
        <p:nvSpPr>
          <p:cNvPr id="10" name="Subtitle"/>
          <p:cNvSpPr txBox="1">
            <a:spLocks/>
          </p:cNvSpPr>
          <p:nvPr/>
        </p:nvSpPr>
        <p:spPr>
          <a:xfrm>
            <a:off x="4181094" y="3900000"/>
            <a:ext cx="4197975" cy="50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Đặt vấn đề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Char char="•"/>
            </a:pPr>
            <a:r>
              <a:rPr lang="en-US" sz="1600" dirty="0"/>
              <a:t>Học sinh truy cập web không phù hợp trong giờ học</a:t>
            </a:r>
          </a:p>
          <a:p>
            <a:pPr marL="342900" indent="-342900">
              <a:buChar char="•"/>
            </a:pPr>
            <a:r>
              <a:rPr lang="en-US" sz="1600" dirty="0"/>
              <a:t>Thiếu công cụ quản lý mạng tập trung cho giáo dục</a:t>
            </a:r>
          </a:p>
          <a:p>
            <a:pPr marL="342900" indent="-342900">
              <a:buChar char="•"/>
            </a:pPr>
            <a:r>
              <a:rPr lang="en-US" sz="1600" dirty="0"/>
              <a:t>Giáo viên không thể kiểm soát truy cập theo lớp/nhóm</a:t>
            </a:r>
          </a:p>
          <a:p>
            <a:pPr marL="342900" indent="-342900">
              <a:buChar char="•"/>
            </a:pPr>
            <a:r>
              <a:rPr lang="en-US" sz="1600" dirty="0"/>
              <a:t>Giải pháp hiện có: chi phí cao, phức tạp, không phù hợp GD Việt Nam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Mục tiêu đồ án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Char char="•"/>
            </a:pPr>
            <a:r>
              <a:rPr lang="en-US" sz="1600" dirty="0"/>
              <a:t>Xây dựng hệ thống Client-Server quản lý bảo mật mạng phân tán</a:t>
            </a:r>
          </a:p>
          <a:p>
            <a:pPr marL="342900" indent="-342900">
              <a:buChar char="•"/>
            </a:pPr>
            <a:r>
              <a:rPr lang="en-US" sz="1600" dirty="0"/>
              <a:t>Phát triển Agent giám sát mạng + quản lý firewall tự động trên Windows</a:t>
            </a:r>
          </a:p>
          <a:p>
            <a:pPr marL="342900" indent="-342900">
              <a:buChar char="•"/>
            </a:pPr>
            <a:r>
              <a:rPr lang="en-US" sz="1600" dirty="0"/>
              <a:t>Triển khai cơ chế whitelist với đồng bộ tự động</a:t>
            </a:r>
          </a:p>
          <a:p>
            <a:pPr marL="342900" indent="-342900">
              <a:buChar char="•"/>
            </a:pPr>
            <a:r>
              <a:rPr lang="en-US" sz="1600" dirty="0"/>
              <a:t>Phân quyền RBAC phù hợp tổ chức giáo dục (Admin/Teacher)</a:t>
            </a:r>
          </a:p>
          <a:p>
            <a:pPr marL="342900" indent="-342900">
              <a:buChar char="•"/>
            </a:pPr>
            <a:r>
              <a:rPr lang="en-US" sz="1600" dirty="0"/>
              <a:t>Chi phí thấp, dễ triển khai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Kiến trúc hệ thống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1600" b="1" dirty="0"/>
              <a:t>Server (Flask + MongoDB)</a:t>
            </a:r>
          </a:p>
          <a:p>
            <a:pPr marL="342900" indent="-342900">
              <a:buChar char="•"/>
            </a:pPr>
            <a:r>
              <a:rPr lang="en-US" sz="1400" dirty="0"/>
              <a:t>REST API + Web Dashboard + WebSocket (Flask-SocketIO)</a:t>
            </a:r>
          </a:p>
          <a:p>
            <a:pPr marL="342900" indent="-342900">
              <a:buChar char="•"/>
            </a:pPr>
            <a:r>
              <a:rPr lang="en-US" sz="1400" dirty="0"/>
              <a:t>MongoDB Atlas: 12 collections, Pydantic validation</a:t>
            </a:r>
          </a:p>
          <a:p>
            <a:endParaRPr lang="en-US" sz="1000" dirty="0"/>
          </a:p>
          <a:p>
            <a:r>
              <a:rPr lang="en-US" sz="1600" b="1" dirty="0"/>
              <a:t>Agent (Windows Desktop)</a:t>
            </a:r>
          </a:p>
          <a:p>
            <a:pPr marL="342900" indent="-342900">
              <a:buChar char="•"/>
            </a:pPr>
            <a:r>
              <a:rPr lang="en-US" sz="1400" dirty="0"/>
              <a:t>GUI (CustomTkinter) + Firewall Manager (netsh)</a:t>
            </a:r>
          </a:p>
          <a:p>
            <a:pPr marL="342900" indent="-342900">
              <a:buChar char="•"/>
            </a:pPr>
            <a:r>
              <a:rPr lang="en-US" sz="1400" dirty="0"/>
              <a:t>Packet Sniffer (Scapy) + Whitelist Sync</a:t>
            </a:r>
          </a:p>
          <a:p>
            <a:endParaRPr lang="en-US" sz="1000" dirty="0"/>
          </a:p>
          <a:p>
            <a:r>
              <a:rPr lang="en-US" sz="1600" b="1" dirty="0"/>
              <a:t>Giao tiếp</a:t>
            </a:r>
          </a:p>
          <a:p>
            <a:pPr marL="342900" indent="-342900">
              <a:buChar char="•"/>
            </a:pPr>
            <a:r>
              <a:rPr lang="en-US" sz="1400" dirty="0"/>
              <a:t>REST API (JWT Auth) + WebSocket (Real-time notifications)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 sánh với giải pháp hiện có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1400" b="1" dirty="0"/>
              <a:t>Tiêu chí                PH c.dụng    PM mã nguồn mở    SAINT</a:t>
            </a:r>
          </a:p>
          <a:p>
            <a:r>
              <a:rPr lang="en-US" sz="1400" dirty="0"/>
              <a:t>Chi phí                   Cao            Trung bình         Thấp</a:t>
            </a:r>
          </a:p>
          <a:p>
            <a:r>
              <a:rPr lang="en-US" sz="1400" dirty="0"/>
              <a:t>Phân quyền GV       Hạn chế     Không               Có (RBAC)</a:t>
            </a:r>
          </a:p>
          <a:p>
            <a:r>
              <a:rPr lang="en-US" sz="1400" dirty="0"/>
              <a:t>QL theo nhóm          Hạn chế     Không               Có</a:t>
            </a:r>
          </a:p>
          <a:p>
            <a:r>
              <a:rPr lang="en-US" sz="1400" dirty="0"/>
              <a:t>GUI trên client      Không         Không               Có</a:t>
            </a:r>
          </a:p>
          <a:p>
            <a:r>
              <a:rPr lang="en-US" sz="1400" dirty="0"/>
              <a:t>Tùy biến cho GD    Không         Không               Có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Công nghệ - Server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Char char="•"/>
            </a:pPr>
            <a:r>
              <a:rPr lang="en-US" sz="1600" b="1" dirty="0"/>
              <a:t xml:space="preserve">Flask: </a:t>
            </a:r>
            <a:r>
              <a:rPr lang="en-US" sz="1600" dirty="0"/>
              <a:t>REST API + Web Dashboard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MongoDB Atlas: </a:t>
            </a:r>
            <a:r>
              <a:rPr lang="en-US" sz="1600" dirty="0"/>
              <a:t>NoSQL database (12 collections)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Flask-SocketIO: </a:t>
            </a:r>
            <a:r>
              <a:rPr lang="en-US" sz="1600" dirty="0"/>
              <a:t>WebSocket real-time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PyJWT + bcrypt: </a:t>
            </a:r>
            <a:r>
              <a:rPr lang="en-US" sz="1600" dirty="0"/>
              <a:t>Authentication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Pydantic: </a:t>
            </a:r>
            <a:r>
              <a:rPr lang="en-US" sz="1600" dirty="0"/>
              <a:t>Data validation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Gevent: </a:t>
            </a:r>
            <a:r>
              <a:rPr lang="en-US" sz="1600" dirty="0"/>
              <a:t>Async server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Công nghệ - Agent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Char char="•"/>
            </a:pPr>
            <a:r>
              <a:rPr lang="en-US" sz="1600" b="1" dirty="0"/>
              <a:t xml:space="preserve">CustomTkinter: </a:t>
            </a:r>
            <a:r>
              <a:rPr lang="en-US" sz="1600" dirty="0"/>
              <a:t>Modern GUI framework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Scapy: </a:t>
            </a:r>
            <a:r>
              <a:rPr lang="en-US" sz="1600" dirty="0"/>
              <a:t>Packet capture &amp; analysis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dnspython: </a:t>
            </a:r>
            <a:r>
              <a:rPr lang="en-US" sz="1600" dirty="0"/>
              <a:t>DNS resolution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netsh: </a:t>
            </a:r>
            <a:r>
              <a:rPr lang="en-US" sz="1600" dirty="0"/>
              <a:t>Windows Firewall management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PyInstaller: </a:t>
            </a:r>
            <a:r>
              <a:rPr lang="en-US" sz="1600" dirty="0"/>
              <a:t>Build → SAINT.exe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psutil: </a:t>
            </a:r>
            <a:r>
              <a:rPr lang="en-US" sz="1600" dirty="0"/>
              <a:t>System monitoring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Server - Kiến trúc MVC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Char char="•"/>
            </a:pPr>
            <a:r>
              <a:rPr lang="en-US" sz="1600" b="1" dirty="0"/>
              <a:t xml:space="preserve">Controller: </a:t>
            </a:r>
            <a:r>
              <a:rPr lang="en-US" sz="1600" dirty="0"/>
              <a:t>~50 API endpoints (agent, whitelist, group, auth, user, audit)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Service: </a:t>
            </a:r>
            <a:r>
              <a:rPr lang="en-US" sz="1600" dirty="0"/>
              <a:t>Business logic layer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Model: </a:t>
            </a:r>
            <a:r>
              <a:rPr lang="en-US" sz="1600" dirty="0"/>
              <a:t>MongoDB CRUD (12 collections)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Middleware: </a:t>
            </a:r>
            <a:r>
              <a:rPr lang="en-US" sz="1600" dirty="0"/>
              <a:t>Auth (JWT) + RBAC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MongoDB - 12 Collections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1600" b="1" dirty="0"/>
              <a:t>Core Collections:</a:t>
            </a:r>
          </a:p>
          <a:p>
            <a:pPr marL="342900" indent="-342900">
              <a:buChar char="•"/>
            </a:pPr>
            <a:r>
              <a:rPr lang="en-US" sz="1400" dirty="0"/>
              <a:t>agents, groups, whitelists, logs, users, sessions</a:t>
            </a:r>
          </a:p>
          <a:p>
            <a:endParaRPr lang="en-US" sz="800" dirty="0"/>
          </a:p>
          <a:p>
            <a:r>
              <a:rPr lang="en-US" sz="1600" b="1" dirty="0"/>
              <a:t>Supporting Collections:</a:t>
            </a:r>
          </a:p>
          <a:p>
            <a:pPr marL="342900" indent="-342900">
              <a:buChar char="•"/>
            </a:pPr>
            <a:r>
              <a:rPr lang="en-US" sz="1400" dirty="0"/>
              <a:t>api_keys, agent_policies, whitelist_profiles</a:t>
            </a:r>
          </a:p>
          <a:p>
            <a:pPr marL="342900" indent="-342900">
              <a:buChar char="•"/>
            </a:pPr>
            <a:r>
              <a:rPr lang="en-US" sz="1400" dirty="0"/>
              <a:t>audit_logs, revoked_tokens, settings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Agent - Kiến trúc MVP + Signals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Char char="•"/>
            </a:pPr>
            <a:r>
              <a:rPr lang="en-US" sz="1600" b="1" dirty="0"/>
              <a:t xml:space="preserve">GUI Thread: </a:t>
            </a:r>
            <a:r>
              <a:rPr lang="en-US" sz="1600" dirty="0"/>
              <a:t>Dashboard, Firewall, Whitelist, Logs, Settings views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AgentSignals: </a:t>
            </a:r>
            <a:r>
              <a:rPr lang="en-US" sz="1600" dirty="0"/>
              <a:t>Event queue (500ms polling) - thread-safe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AgentController: </a:t>
            </a:r>
            <a:r>
              <a:rPr lang="en-US" sz="1600" dirty="0"/>
              <a:t>Singleton Presenter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Worker Threads: </a:t>
            </a:r>
            <a:r>
              <a:rPr lang="en-US" sz="1600" dirty="0"/>
              <a:t>FirewallManager, WhitelistManager, PacketSniffer, HeartbeatSender, LogSender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Firewall Manager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Char char="•"/>
            </a:pPr>
            <a:r>
              <a:rPr lang="en-US" sz="1600" b="1" dirty="0"/>
              <a:t>PolicyManager: </a:t>
            </a:r>
            <a:r>
              <a:rPr lang="en-US" sz="1600" dirty="0"/>
              <a:t>Default deny/allow policy (netsh)</a:t>
            </a:r>
          </a:p>
          <a:p>
            <a:pPr marL="342900" indent="-342900">
              <a:buChar char="•"/>
            </a:pPr>
            <a:r>
              <a:rPr lang="en-US" sz="1600" b="1" dirty="0"/>
              <a:t>RulesManager: </a:t>
            </a:r>
            <a:r>
              <a:rPr lang="en-US" sz="1600" dirty="0"/>
              <a:t>Tạo/xóa firewall rules theo whitelist</a:t>
            </a:r>
          </a:p>
          <a:p>
            <a:pPr marL="342900" indent="-342900">
              <a:buChar char="•"/>
            </a:pPr>
            <a:r>
              <a:rPr lang="en-US" sz="1600" b="1" dirty="0"/>
              <a:t>DNSResolver: </a:t>
            </a:r>
            <a:r>
              <a:rPr lang="en-US" sz="1600" dirty="0"/>
              <a:t>LRU cache (2000 entries)</a:t>
            </a:r>
          </a:p>
          <a:p>
            <a:pPr marL="342900" indent="-342900">
              <a:buChar char="•"/>
            </a:pPr>
            <a:r>
              <a:rPr lang="en-US" sz="1600" b="1" dirty="0"/>
              <a:t>2 chế độ: </a:t>
            </a:r>
            <a:r>
              <a:rPr lang="en-US" sz="1600" dirty="0"/>
              <a:t>whitelist_only (chặn) / monitor_only (giám sát)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Giám sát mạng đa tầng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Char char="•"/>
            </a:pPr>
            <a:r>
              <a:rPr lang="en-US" sz="1600" b="1" dirty="0"/>
              <a:t xml:space="preserve">DNS Query: </a:t>
            </a:r>
            <a:r>
              <a:rPr lang="en-US" sz="1600" dirty="0"/>
              <a:t>Trích xuất domain từ DNS packets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HTTP Host: </a:t>
            </a:r>
            <a:r>
              <a:rPr lang="en-US" sz="1600" dirty="0"/>
              <a:t>Phân tích HTTP requests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TLS/SNI: </a:t>
            </a:r>
            <a:r>
              <a:rPr lang="en-US" sz="1600" dirty="0"/>
              <a:t>Server Name Indication (HTTPS)</a:t>
            </a:r>
          </a:p>
          <a:p>
            <a:pPr marL="342900" indent="-342900">
              <a:buChar char="•"/>
            </a:pPr>
            <a:r>
              <a:rPr lang="en-US" sz="1600" dirty="0"/>
              <a:t>Phát hiện &gt;90% truy cập web không cần decrypt HTTPS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LogSender: </a:t>
            </a:r>
            <a:r>
              <a:rPr lang="en-US" sz="1600" dirty="0"/>
              <a:t>Batch 100 entries, gửi mỗi 2 giây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Xác thực &amp; Phân quyền RBAC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1600" b="1" dirty="0"/>
              <a:t>Xác thực Agent:</a:t>
            </a:r>
          </a:p>
          <a:p>
            <a:pPr marL="342900" indent="-342900">
              <a:buChar char="•"/>
            </a:pPr>
            <a:r>
              <a:rPr lang="en-US" sz="1400" dirty="0"/>
              <a:t>API Key (HMAC-SHA256) → JWT Token (24h)</a:t>
            </a:r>
          </a:p>
          <a:p>
            <a:r>
              <a:rPr lang="en-US" sz="1600" b="1" dirty="0"/>
              <a:t>Xác thực Web:</a:t>
            </a:r>
          </a:p>
          <a:p>
            <a:pPr marL="342900" indent="-342900">
              <a:buChar char="•"/>
            </a:pPr>
            <a:r>
              <a:rPr lang="en-US" sz="1400" dirty="0"/>
              <a:t>Username/Password (bcrypt) → JWT Cookie (30min)</a:t>
            </a:r>
          </a:p>
          <a:p>
            <a:r>
              <a:rPr lang="en-US" sz="1600" b="1" dirty="0"/>
              <a:t>RBAC 2 cấp:</a:t>
            </a:r>
          </a:p>
          <a:p>
            <a:pPr marL="342900" indent="-342900">
              <a:buChar char="•"/>
            </a:pPr>
            <a:r>
              <a:rPr lang="en-US" sz="1400" b="1" dirty="0"/>
              <a:t xml:space="preserve">Admin: </a:t>
            </a:r>
            <a:r>
              <a:rPr lang="en-US" sz="1400" dirty="0"/>
              <a:t>Toàn quyền quản trị</a:t>
            </a:r>
          </a:p>
          <a:p>
            <a:pPr marL="342900" indent="-342900">
              <a:buChar char="•"/>
            </a:pPr>
            <a:r>
              <a:rPr lang="en-US" sz="1400" b="1" dirty="0"/>
              <a:t xml:space="preserve">Teacher: </a:t>
            </a:r>
            <a:r>
              <a:rPr lang="en-US" sz="1400" dirty="0"/>
              <a:t>Chỉ quản lý group được gán</a:t>
            </a:r>
          </a:p>
          <a:p>
            <a:pPr marL="342900" indent="-342900">
              <a:buChar char="•"/>
            </a:pPr>
            <a:r>
              <a:rPr lang="en-US" sz="1400" b="1" dirty="0"/>
              <a:t xml:space="preserve">Audit Log: </a:t>
            </a:r>
            <a:r>
              <a:rPr lang="en-US" sz="1400" dirty="0"/>
              <a:t>Ghi lại mọi hành động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Luồng đồng bộ Whitelist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1600" b="1" dirty="0"/>
              <a:t>Quy trình tự động:</a:t>
            </a:r>
          </a:p>
          <a:p>
            <a:pPr marL="342900" indent="-342900">
              <a:buAutoNum type="arabicPeriod"/>
            </a:pPr>
            <a:r>
              <a:rPr lang="en-US" sz="1400" dirty="0"/>
              <a:t>Server cập nhật whitelist → whitelist_version++</a:t>
            </a:r>
          </a:p>
          <a:p>
            <a:pPr marL="342900" indent="-342900">
              <a:buAutoNum type="arabicPeriod"/>
            </a:pPr>
            <a:r>
              <a:rPr lang="en-US" sz="1400" dirty="0"/>
              <a:t>Agent gửi heartbeat mỗi 20s</a:t>
            </a:r>
          </a:p>
          <a:p>
            <a:pPr marL="342900" indent="-342900">
              <a:buAutoNum type="arabicPeriod"/>
            </a:pPr>
            <a:r>
              <a:rPr lang="en-US" sz="1400" dirty="0"/>
              <a:t>Phát hiện version mới trong heartbeat response</a:t>
            </a:r>
          </a:p>
          <a:p>
            <a:pPr marL="342900" indent="-342900">
              <a:buAutoNum type="arabicPeriod"/>
            </a:pPr>
            <a:r>
              <a:rPr lang="en-US" sz="1400" dirty="0"/>
              <a:t>Pull whitelist mới từ Server</a:t>
            </a:r>
          </a:p>
          <a:p>
            <a:pPr marL="342900" indent="-342900">
              <a:buAutoNum type="arabicPeriod"/>
            </a:pPr>
            <a:r>
              <a:rPr lang="en-US" sz="1400" dirty="0"/>
              <a:t>DNS resolve tất cả domains → IP</a:t>
            </a:r>
          </a:p>
          <a:p>
            <a:pPr marL="342900" indent="-342900">
              <a:buAutoNum type="arabicPeriod"/>
            </a:pPr>
            <a:r>
              <a:rPr lang="en-US" sz="1400" dirty="0"/>
              <a:t>Cập nhật Firewall rules tự động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 Dashboard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Char char="•"/>
            </a:pPr>
            <a:r>
              <a:rPr lang="en-US" sz="1600" b="1" dirty="0"/>
              <a:t>Quản lý Agent: </a:t>
            </a:r>
            <a:r>
              <a:rPr lang="en-US" sz="1600" dirty="0"/>
              <a:t>trạng thái, thông tin, nhóm</a:t>
            </a:r>
          </a:p>
          <a:p>
            <a:pPr marL="342900" indent="-342900">
              <a:buChar char="•"/>
            </a:pPr>
            <a:r>
              <a:rPr lang="en-US" sz="1600" b="1" dirty="0"/>
              <a:t>Quản lý Whitelist: </a:t>
            </a:r>
            <a:r>
              <a:rPr lang="en-US" sz="1600" dirty="0"/>
              <a:t>CRUD domain/IP</a:t>
            </a:r>
          </a:p>
          <a:p>
            <a:pPr marL="342900" indent="-342900">
              <a:buChar char="•"/>
            </a:pPr>
            <a:r>
              <a:rPr lang="en-US" sz="1600" b="1" dirty="0"/>
              <a:t>Quản lý Group: </a:t>
            </a:r>
            <a:r>
              <a:rPr lang="en-US" sz="1600" dirty="0"/>
              <a:t>tạo nhóm, gán Agent, gán Teacher</a:t>
            </a:r>
          </a:p>
          <a:p>
            <a:pPr marL="342900" indent="-342900">
              <a:buChar char="•"/>
            </a:pPr>
            <a:r>
              <a:rPr lang="en-US" sz="1600" dirty="0"/>
              <a:t>Real-time notifications via WebSocket</a:t>
            </a:r>
          </a:p>
          <a:p>
            <a:pPr marL="342900" indent="-342900">
              <a:buChar char="•"/>
            </a:pPr>
            <a:r>
              <a:rPr lang="en-US" sz="1600" dirty="0"/>
              <a:t>Audit Log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Agent GUI (CustomTkinter)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Char char="•"/>
            </a:pPr>
            <a:r>
              <a:rPr lang="en-US" sz="1600" b="1" dirty="0"/>
              <a:t xml:space="preserve">Dashboard: </a:t>
            </a:r>
            <a:r>
              <a:rPr lang="en-US" sz="1600" dirty="0"/>
              <a:t>Status cards, activity log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Firewall: </a:t>
            </a:r>
            <a:r>
              <a:rPr lang="en-US" sz="1600" dirty="0"/>
              <a:t>Xem/quản lý rules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Whitelist: </a:t>
            </a:r>
            <a:r>
              <a:rPr lang="en-US" sz="1600" dirty="0"/>
              <a:t>Danh sách đã sync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Logs: </a:t>
            </a:r>
            <a:r>
              <a:rPr lang="en-US" sz="1600" dirty="0"/>
              <a:t>Console real-time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Settings: </a:t>
            </a:r>
            <a:r>
              <a:rPr lang="en-US" sz="1600" dirty="0"/>
              <a:t>Cấu hình kết nối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Kiểm thử &amp; Kết quả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Char char="•"/>
            </a:pPr>
            <a:r>
              <a:rPr lang="en-US" sz="1600" b="1" dirty="0"/>
              <a:t xml:space="preserve">Unit tests: </a:t>
            </a:r>
            <a:r>
              <a:rPr lang="en-US" sz="1600" dirty="0"/>
              <a:t>pytest (7 test files - all pass)</a:t>
            </a:r>
          </a:p>
          <a:p>
            <a:pPr marL="342900" indent="-342900">
              <a:buChar char="•"/>
            </a:pPr>
            <a:r>
              <a:rPr lang="en-US" sz="1600" b="1" dirty="0"/>
              <a:t xml:space="preserve">Integration test: </a:t>
            </a:r>
            <a:r>
              <a:rPr lang="en-US" sz="1600" dirty="0"/>
              <a:t>3-5 máy Windows</a:t>
            </a:r>
          </a:p>
          <a:p>
            <a:pPr marL="342900" indent="-342900">
              <a:buChar char="•"/>
            </a:pPr>
            <a:r>
              <a:rPr lang="en-US" sz="1600" dirty="0"/>
              <a:t>Đồng bộ whitelist: tự động, &lt;5s</a:t>
            </a:r>
          </a:p>
          <a:p>
            <a:pPr marL="342900" indent="-342900">
              <a:buChar char="•"/>
            </a:pPr>
            <a:r>
              <a:rPr lang="en-US" sz="1600" dirty="0"/>
              <a:t>Firewall rules: áp dụng chính xác</a:t>
            </a:r>
          </a:p>
          <a:p>
            <a:pPr marL="342900" indent="-342900">
              <a:buChar char="•"/>
            </a:pPr>
            <a:r>
              <a:rPr lang="en-US" sz="1600" dirty="0"/>
              <a:t>Phân quyền RBAC: hoạt động đúng</a:t>
            </a:r>
          </a:p>
          <a:p>
            <a:pPr marL="342900" indent="-342900">
              <a:buChar char="•"/>
            </a:pPr>
            <a:r>
              <a:rPr lang="en-US" sz="1600" dirty="0"/>
              <a:t>Agent hoạt động offline với whitelist cached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Kết luận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Char char="•"/>
            </a:pPr>
            <a:r>
              <a:rPr lang="en-US" sz="1600" dirty="0"/>
              <a:t>Hoàn thành hệ thống SAINT với đầy đủ chức năng</a:t>
            </a:r>
          </a:p>
          <a:p>
            <a:pPr marL="342900" indent="-342900">
              <a:buChar char="•"/>
            </a:pPr>
            <a:r>
              <a:rPr lang="en-US" sz="1600" dirty="0"/>
              <a:t>Kiến trúc Client-Server phân tán, mở rộng được</a:t>
            </a:r>
          </a:p>
          <a:p>
            <a:pPr marL="342900" indent="-342900">
              <a:buChar char="•"/>
            </a:pPr>
            <a:r>
              <a:rPr lang="en-US" sz="1600" dirty="0"/>
              <a:t>Whitelist + Firewall tự động</a:t>
            </a:r>
          </a:p>
          <a:p>
            <a:pPr marL="342900" indent="-342900">
              <a:buChar char="•"/>
            </a:pPr>
            <a:r>
              <a:rPr lang="en-US" sz="1600" dirty="0"/>
              <a:t>Giám sát mạng đa tầng (DNS/HTTP/SNI)</a:t>
            </a:r>
          </a:p>
          <a:p>
            <a:pPr marL="342900" indent="-342900">
              <a:buChar char="•"/>
            </a:pPr>
            <a:r>
              <a:rPr lang="en-US" sz="1600" dirty="0"/>
              <a:t>RBAC 2 cấp phù hợp tổ chức GD</a:t>
            </a:r>
          </a:p>
          <a:p>
            <a:pPr marL="342900" indent="-342900">
              <a:buChar char="•"/>
            </a:pPr>
            <a:r>
              <a:rPr lang="en-US" sz="1600" dirty="0"/>
              <a:t>Chi phí thấp, dễ triển khai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Hướng phát triển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Char char="•"/>
            </a:pPr>
            <a:r>
              <a:rPr lang="en-US" sz="1600" dirty="0"/>
              <a:t>Hỗ trợ macOS (pf) và Linux (iptables/nftables)</a:t>
            </a:r>
          </a:p>
          <a:p>
            <a:pPr marL="342900" indent="-342900">
              <a:buChar char="•"/>
            </a:pPr>
            <a:r>
              <a:rPr lang="en-US" sz="1600" dirty="0"/>
              <a:t>Tích hợp Machine Learning phát hiện bất thường</a:t>
            </a:r>
          </a:p>
          <a:p>
            <a:pPr marL="342900" indent="-342900">
              <a:buChar char="•"/>
            </a:pPr>
            <a:r>
              <a:rPr lang="en-US" sz="1600" dirty="0"/>
              <a:t>Ứng dụng mobile cho giáo viên</a:t>
            </a:r>
          </a:p>
          <a:p>
            <a:pPr marL="342900" indent="-342900">
              <a:buChar char="•"/>
            </a:pPr>
            <a:r>
              <a:rPr lang="en-US" sz="1600" dirty="0"/>
              <a:t>Báo cáo thống kê chi tiết</a:t>
            </a:r>
          </a:p>
          <a:p>
            <a:pPr marL="342900" indent="-342900">
              <a:buChar char="•"/>
            </a:pPr>
            <a:r>
              <a:rPr lang="en-US" sz="1600" dirty="0"/>
              <a:t>Zero-trust security architecture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</TotalTime>
  <Words>25</Words>
  <Application>Microsoft Office PowerPoint</Application>
  <PresentationFormat>Trình chiếu Trên màn hình (4:3)</PresentationFormat>
  <Paragraphs>15</Paragraphs>
  <Slides>13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17" baseType="lpstr">
      <vt:lpstr>Arial</vt:lpstr>
      <vt:lpstr>Calibri</vt:lpstr>
      <vt:lpstr>Lato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HUST CCPR</cp:lastModifiedBy>
  <cp:revision>13</cp:revision>
  <dcterms:created xsi:type="dcterms:W3CDTF">2021-05-28T04:32:29Z</dcterms:created>
  <dcterms:modified xsi:type="dcterms:W3CDTF">2022-12-12T05:09:13Z</dcterms:modified>
</cp:coreProperties>
</file>