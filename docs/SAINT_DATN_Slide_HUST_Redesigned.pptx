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62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39319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300" b="1">
                <a:solidFill>
                  <a:srgbClr val="5F5F5F"/>
                </a:solidFill>
                <a:latin typeface="Aptos"/>
              </a:rPr>
              <a:t>HANOI UNIVERSITY OF SCIENCE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40664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4400" b="1">
                <a:solidFill>
                  <a:srgbClr val="960018"/>
                </a:solidFill>
                <a:latin typeface="Aptos"/>
              </a:rPr>
              <a:t>SAINT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6766560" cy="7772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Distributed Network Security Management for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0"/>
            <a:ext cx="621792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600" b="1">
                <a:solidFill>
                  <a:srgbClr val="262626"/>
                </a:solidFill>
                <a:latin typeface="Aptos"/>
              </a:rPr>
              <a:t>Security Agent Integrated Network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09160"/>
            <a:ext cx="704088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0">
                <a:solidFill>
                  <a:srgbClr val="262626"/>
                </a:solidFill>
                <a:latin typeface="Aptos"/>
              </a:rPr>
              <a:t>Graduation Thesis</a:t>
            </a:r>
            <a:br/>
            <a:r>
              <a:rPr sz="1200" b="0">
                <a:solidFill>
                  <a:srgbClr val="262626"/>
                </a:solidFill>
                <a:latin typeface="Aptos"/>
              </a:rPr>
              <a:t>Student: Bui Xuan Son - ID: 20225586     Supervisor: 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A source-based overview for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94360" cy="45720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72768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500" b="1">
                <a:solidFill>
                  <a:srgbClr val="262626"/>
                </a:solidFill>
                <a:latin typeface="Aptos"/>
              </a:rPr>
              <a:t>Problem &amp;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08760"/>
            <a:ext cx="594360" cy="45720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572768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500" b="1">
                <a:solidFill>
                  <a:srgbClr val="262626"/>
                </a:solidFill>
                <a:latin typeface="Aptos"/>
              </a:rPr>
              <a:t>System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594360" cy="45720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07208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500" b="1">
                <a:solidFill>
                  <a:srgbClr val="262626"/>
                </a:solidFill>
                <a:latin typeface="Aptos"/>
              </a:rPr>
              <a:t>Server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743200"/>
            <a:ext cx="594360" cy="45720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807208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500" b="1">
                <a:solidFill>
                  <a:srgbClr val="262626"/>
                </a:solidFill>
                <a:latin typeface="Aptos"/>
              </a:rPr>
              <a:t>Agent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94360" cy="45720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41648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500" b="1">
                <a:solidFill>
                  <a:srgbClr val="262626"/>
                </a:solidFill>
                <a:latin typeface="Aptos"/>
              </a:rPr>
              <a:t>Security &amp; RBAC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977639"/>
            <a:ext cx="594360" cy="45720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041648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500" b="1">
                <a:solidFill>
                  <a:srgbClr val="262626"/>
                </a:solidFill>
                <a:latin typeface="Aptos"/>
              </a:rPr>
              <a:t>Testing, Results,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Network access control in computer labs is hard to delegate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2075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Classroom distraction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28800"/>
            <a:ext cx="2075687" cy="6675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Students can access games, social media or irrelevant websites during practice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73152" cy="1143000"/>
          </a:xfrm>
          <a:prstGeom prst="rect">
            <a:avLst/>
          </a:prstGeom>
          <a:solidFill>
            <a:srgbClr val="E28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527048"/>
            <a:ext cx="2075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E2801A"/>
                </a:solidFill>
                <a:latin typeface="Aptos"/>
              </a:rPr>
              <a:t>Manual operation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828800"/>
            <a:ext cx="2075687" cy="6675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Proxy and firewall rules require IT expertise and do not map naturally to each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73152" cy="114300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1527048"/>
            <a:ext cx="2075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Low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828800"/>
            <a:ext cx="2075687" cy="6675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Teachers need real-time status and logs without taking over network infrastructure.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63240"/>
            <a:ext cx="7132320" cy="155448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ptos"/>
              </a:rPr>
              <a:t>• The school needs centralized policy management, but enforcement must happen on lab PCs.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ptos"/>
              </a:rPr>
              <a:t>• Teachers should manage only their assigned groups.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ptos"/>
              </a:rPr>
              <a:t>• The system must keep an audit trail and support offline-safe Agent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What SAINT is designed to provide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325880"/>
            <a:ext cx="73152" cy="86868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Centralized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737360"/>
            <a:ext cx="3355848" cy="393191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Server dashboard for agents, groups, whitelist, logs and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90872" y="1325880"/>
            <a:ext cx="73152" cy="86868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55464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Windows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737360"/>
            <a:ext cx="3355848" cy="393191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Standalone Agent with GUI, heartbeat, packet monitoring and firewall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468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2468880"/>
            <a:ext cx="73152" cy="86868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257860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Whitelist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880360"/>
            <a:ext cx="3355848" cy="393191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Default-deny firewall model with automatic whitelist synchronization.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468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90872" y="2468880"/>
            <a:ext cx="73152" cy="868680"/>
          </a:xfrm>
          <a:prstGeom prst="rect">
            <a:avLst/>
          </a:prstGeom>
          <a:solidFill>
            <a:srgbClr val="68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55464" y="257860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684C9B"/>
                </a:solidFill>
                <a:latin typeface="Aptos"/>
              </a:rPr>
              <a:t>RBAC for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80360"/>
            <a:ext cx="3355848" cy="393191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Admin has full control; Teacher is scoped to assigned groups.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611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3611880"/>
            <a:ext cx="73152" cy="868680"/>
          </a:xfrm>
          <a:prstGeom prst="rect">
            <a:avLst/>
          </a:prstGeom>
          <a:solidFill>
            <a:srgbClr val="E28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372160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E2801A"/>
                </a:solidFill>
                <a:latin typeface="Aptos"/>
              </a:rPr>
              <a:t>Operational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023360"/>
            <a:ext cx="3355848" cy="393191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Realtime status, logs, audit trail and session/token management.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Scope and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The implementation scope visible in the current source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057400" cy="640080"/>
          </a:xfrm>
          <a:prstGeom prst="roundRect">
            <a:avLst/>
          </a:prstGeom>
          <a:solidFill>
            <a:srgbClr val="FFF3F5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ptos"/>
              </a:rPr>
              <a:t>Windows lab PCs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057400" cy="64008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ptos"/>
              </a:rPr>
              <a:t>Flask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2057400" cy="6400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ptos"/>
              </a:rPr>
              <a:t>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7315200" cy="182880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ptos"/>
              </a:rPr>
              <a:t>• Agent is a client application; it does not expose a local HTTP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ptos"/>
              </a:rPr>
              <a:t>• Teacher operations are filtered by assigned group ownership.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ptos"/>
              </a:rPr>
              <a:t>• Layer 7 monitoring observes DNS, HTTP Host and TLS SNI without HTTPS decryption.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ptos"/>
              </a:rPr>
              <a:t>• The redesigned slides use source-based diagrams, not live runtime screenshots.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Comparison with Existing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Why a custom educational network-control system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240280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325880"/>
            <a:ext cx="1645920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Proxy / DNS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2240280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Commercial classroom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325880"/>
            <a:ext cx="1874519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SAINT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01368"/>
            <a:ext cx="224028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Teacher-scoped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01368"/>
            <a:ext cx="16459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Weak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01368"/>
            <a:ext cx="224028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Limited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801368"/>
            <a:ext cx="1874519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Built-in RBAC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68296"/>
            <a:ext cx="2240280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Agent-side firewall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368296"/>
            <a:ext cx="1645920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368296"/>
            <a:ext cx="2240280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Vendor-specific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368296"/>
            <a:ext cx="1874519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Windows whitelist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935224"/>
            <a:ext cx="224028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Source customization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935224"/>
            <a:ext cx="16459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935224"/>
            <a:ext cx="224028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2935224"/>
            <a:ext cx="1874519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502152"/>
            <a:ext cx="2240280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Realtime lab visibility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502152"/>
            <a:ext cx="1645920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Partial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502152"/>
            <a:ext cx="2240280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502152"/>
            <a:ext cx="1874519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069080"/>
            <a:ext cx="224028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Cost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069080"/>
            <a:ext cx="16459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069080"/>
            <a:ext cx="224028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4069080"/>
            <a:ext cx="1874519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0">
                <a:solidFill>
                  <a:srgbClr val="262626"/>
                </a:solidFill>
                <a:latin typeface="Aptos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693" y="123226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 fontScale="92500" lnSpcReduction="10000"/>
          </a:bodyPr>
          <a:lstStyle/>
          <a:p>
            <a:r>
              <a:rPr sz="2600" b="1" dirty="0">
                <a:solidFill>
                  <a:srgbClr val="960018"/>
                </a:solidFill>
                <a:latin typeface="Aptos"/>
              </a:rPr>
              <a:t>Overall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Client-server architecture with centralized policy and distributed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011680" cy="685800"/>
          </a:xfrm>
          <a:prstGeom prst="roundRect">
            <a:avLst/>
          </a:prstGeom>
          <a:solidFill>
            <a:srgbClr val="FFF5F6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Aptos"/>
              </a:rPr>
              <a:t>Admin / Teacher</a:t>
            </a:r>
            <a:br/>
            <a:r>
              <a:rPr sz="1100" b="1">
                <a:solidFill>
                  <a:srgbClr val="262626"/>
                </a:solidFill>
                <a:latin typeface="Aptos"/>
              </a:rPr>
              <a:t>Web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286000" cy="96012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100" b="1" dirty="0">
                <a:solidFill>
                  <a:srgbClr val="262626"/>
                </a:solidFill>
                <a:latin typeface="Aptos"/>
              </a:rPr>
              <a:t>Flask Server</a:t>
            </a:r>
            <a:br>
              <a:rPr dirty="0"/>
            </a:br>
            <a:r>
              <a:rPr sz="1100" b="1" dirty="0">
                <a:solidFill>
                  <a:srgbClr val="262626"/>
                </a:solidFill>
                <a:latin typeface="Aptos"/>
              </a:rPr>
              <a:t>REST API + Dashboard</a:t>
            </a:r>
            <a:br>
              <a:rPr dirty="0"/>
            </a:br>
            <a:r>
              <a:rPr sz="1100" b="1" dirty="0" err="1">
                <a:solidFill>
                  <a:srgbClr val="262626"/>
                </a:solidFill>
                <a:latin typeface="Aptos"/>
              </a:rPr>
              <a:t>SocketIO</a:t>
            </a:r>
            <a:endParaRPr sz="1100" b="1" dirty="0">
              <a:solidFill>
                <a:srgbClr val="26262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7960" y="1463040"/>
            <a:ext cx="1600200" cy="68580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Aptos"/>
              </a:rPr>
              <a:t>MongoDB</a:t>
            </a:r>
            <a:br/>
            <a:r>
              <a:rPr sz="1100" b="1">
                <a:solidFill>
                  <a:srgbClr val="262626"/>
                </a:solidFill>
                <a:latin typeface="Aptos"/>
              </a:rPr>
              <a:t>Collections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886200"/>
            <a:ext cx="1920240" cy="822960"/>
          </a:xfrm>
          <a:prstGeom prst="roundRect">
            <a:avLst/>
          </a:prstGeom>
          <a:solidFill>
            <a:srgbClr val="FFFAEE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Windows Agent #1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GUI + Firewall + Sniffer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3886200"/>
            <a:ext cx="1920240" cy="822960"/>
          </a:xfrm>
          <a:prstGeom prst="roundRect">
            <a:avLst/>
          </a:prstGeom>
          <a:solidFill>
            <a:srgbClr val="FFFAEE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Windows Agent #N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Heartbeat +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86200"/>
            <a:ext cx="1737360" cy="822960"/>
          </a:xfrm>
          <a:prstGeom prst="roundRect">
            <a:avLst/>
          </a:prstGeom>
          <a:solidFill>
            <a:srgbClr val="F8F5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Lab Network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Policies enforced locally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1810512"/>
            <a:ext cx="73152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0" y="1810512"/>
            <a:ext cx="82296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920240" y="2286000"/>
            <a:ext cx="1920240" cy="160020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709160" y="2286000"/>
            <a:ext cx="45720" cy="160020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0" y="4297680"/>
            <a:ext cx="91440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0" y="1938528"/>
            <a:ext cx="59436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5F5F5F"/>
                </a:solidFill>
                <a:latin typeface="Aptos"/>
              </a:rPr>
              <a:t>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938528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5F5F5F"/>
                </a:solidFill>
                <a:latin typeface="Aptos"/>
              </a:rPr>
              <a:t>CRUD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88036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5F5F5F"/>
                </a:solidFill>
                <a:latin typeface="Aptos"/>
              </a:rPr>
              <a:t>REST +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88036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5F5F5F"/>
                </a:solidFill>
                <a:latin typeface="Aptos"/>
              </a:rPr>
              <a:t>SocketIO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Communication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How policy and telemetry move through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1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Teacher updates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whitelist/profile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14884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28800"/>
            <a:ext cx="1115568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2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Server bumps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14884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1115568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3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Agent heartbeat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detects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14884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828800"/>
            <a:ext cx="1115568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4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Agent pulls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scoped whitelist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14884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1115568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5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Firewall rules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are updated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14884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828800"/>
            <a:ext cx="1115568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6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Logs return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to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7315200" cy="100584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The Server remains the source of truth; Agents enforce policy locally.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Version tracking avoids unnecessary full whitelist sync.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Logs are batched to reduce API overhead.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Server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Flask MVC-style layering from routes to MongoDB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43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Flask App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create_app()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2212848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920240"/>
            <a:ext cx="1143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Blueprints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/api/*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212848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1143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Controllers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validate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212848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920240"/>
            <a:ext cx="1143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Services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business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2212848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1143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Models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MongoDB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212848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920240"/>
            <a:ext cx="1143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MongoDB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12 collections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657600"/>
            <a:ext cx="73152" cy="100584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3767328"/>
            <a:ext cx="317296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069080"/>
            <a:ext cx="3172968" cy="5303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API Key, JWT, login, admin permission and teacher ownership filters.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65760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00600" y="3657600"/>
            <a:ext cx="73152" cy="100584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5192" y="3767328"/>
            <a:ext cx="317296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Realtime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4069080"/>
            <a:ext cx="3172968" cy="5303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SocketIO emits agent status, logs, whitelist and user-management events.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09/28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MVP-style GUI with worker components behind a signal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828800" cy="731520"/>
          </a:xfrm>
          <a:prstGeom prst="roundRect">
            <a:avLst/>
          </a:prstGeom>
          <a:solidFill>
            <a:srgbClr val="FFF5F6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GUI Views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Dashboard / Logs / Settings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1508760" cy="731520"/>
          </a:xfrm>
          <a:prstGeom prst="roundRect">
            <a:avLst/>
          </a:prstGeom>
          <a:solidFill>
            <a:srgbClr val="FFFAEE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AgentSignals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thread-safe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417320"/>
            <a:ext cx="1554480" cy="73152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AgentController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singleton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417320"/>
            <a:ext cx="1508760" cy="731520"/>
          </a:xfrm>
          <a:prstGeom prst="roundRect">
            <a:avLst/>
          </a:prstGeom>
          <a:solidFill>
            <a:srgbClr val="F8F5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Lifecycle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component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4592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2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21488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TokenManager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828800" y="2148840"/>
            <a:ext cx="5715000" cy="105156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66160" y="3200400"/>
            <a:ext cx="21488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WhitelistManager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617720" y="2148840"/>
            <a:ext cx="2926080" cy="105156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55079" y="3200400"/>
            <a:ext cx="21488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FirewallManager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406640" y="2148840"/>
            <a:ext cx="137160" cy="105156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4023360"/>
            <a:ext cx="21488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PacketSniffer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828800" y="2148840"/>
            <a:ext cx="5715000" cy="187452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66160" y="4023360"/>
            <a:ext cx="21488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HeartbeatSender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617720" y="2148840"/>
            <a:ext cx="2926080" cy="187452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55079" y="4023360"/>
            <a:ext cx="21488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LogSender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406640" y="2148840"/>
            <a:ext cx="137160" cy="187452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Server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Technologies identified from current source and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4416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4592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REST API and server-rendered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73152" cy="82296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134416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Flask-SocketIO + gevent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164592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Realtime updates to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8600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286000"/>
            <a:ext cx="73152" cy="82296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39572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MongoDB + PyMongo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69748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Document persistence and indexes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28600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2286000"/>
            <a:ext cx="73152" cy="822960"/>
          </a:xfrm>
          <a:prstGeom prst="rect">
            <a:avLst/>
          </a:prstGeom>
          <a:solidFill>
            <a:srgbClr val="68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8031" y="239572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684C9B"/>
                </a:solidFill>
                <a:latin typeface="Aptos"/>
              </a:rPr>
              <a:t>PyJWT + bcrypt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269748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Token authentication and password hashing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3756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337560"/>
            <a:ext cx="73152" cy="822960"/>
          </a:xfrm>
          <a:prstGeom prst="rect">
            <a:avLst/>
          </a:prstGeom>
          <a:solidFill>
            <a:srgbClr val="E28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44728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E2801A"/>
                </a:solidFill>
                <a:latin typeface="Aptos"/>
              </a:rPr>
              <a:t>Pydantic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749039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Data validation and schema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33756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3337560"/>
            <a:ext cx="73152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1" y="344728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1" y="3749039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Server packaging and deployment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MongoDB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Collections used by models and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7406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9144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435607"/>
            <a:ext cx="715060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Core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37360"/>
            <a:ext cx="7150607" cy="4389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agents, groups, whitelist, logs,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7406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560320"/>
            <a:ext cx="73152" cy="91440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670048"/>
            <a:ext cx="715060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971800"/>
            <a:ext cx="7150607" cy="4389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api_keys, admin_sessions, revoked_tokens, audit_logs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7406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73152" cy="91440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904488"/>
            <a:ext cx="715060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Policy 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06240"/>
            <a:ext cx="7150607" cy="4389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agent_policies, whitelist_profiles, whitelist_meta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257800"/>
            <a:ext cx="14630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Agent → Group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257800"/>
            <a:ext cx="1645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Group → Teacher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5257800"/>
            <a:ext cx="15544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Log →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5257800"/>
            <a:ext cx="15544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Profile →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Server 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70 method/path entries extracted from current controllers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325880"/>
            <a:ext cx="73152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Agent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73736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register, heartbeat, policy, detail,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90872" y="1325880"/>
            <a:ext cx="73152" cy="82296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55464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Whitelist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73736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sync, CRUD, bulk, import/export, stats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377439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2377439"/>
            <a:ext cx="73152" cy="82296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248716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Admin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78892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login, refresh, logout, profile, 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377439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90872" y="2377439"/>
            <a:ext cx="73152" cy="822960"/>
          </a:xfrm>
          <a:prstGeom prst="rect">
            <a:avLst/>
          </a:prstGeom>
          <a:solidFill>
            <a:srgbClr val="68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55464" y="248716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684C9B"/>
                </a:solidFill>
                <a:latin typeface="Aptos"/>
              </a:rPr>
              <a:t>RBAC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78892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groups, users, audit, API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42900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3429000"/>
            <a:ext cx="73152" cy="822960"/>
          </a:xfrm>
          <a:prstGeom prst="rect">
            <a:avLst/>
          </a:prstGeom>
          <a:solidFill>
            <a:srgbClr val="E28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353872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E2801A"/>
                </a:solidFill>
                <a:latin typeface="Aptos"/>
              </a:rPr>
              <a:t>Logs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4048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receive, list, stats, export, clear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92040"/>
            <a:ext cx="7223760" cy="68580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Aptos"/>
              </a:rPr>
              <a:t>• All controller blueprints are registered with `/api` prefix in `server/app.py`.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Aptos"/>
              </a:rPr>
              <a:t>• Agent-facing routes use API Key/JWT; dashboard routes use login/RBAC.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Realtime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SocketIO connects server-side state changes to the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828800" cy="731520"/>
          </a:xfrm>
          <a:prstGeom prst="roundRect">
            <a:avLst/>
          </a:prstGeom>
          <a:solidFill>
            <a:srgbClr val="FFF5F6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Service changes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agent/log/whitelist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08760"/>
            <a:ext cx="1828800" cy="73152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SocketIO emit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server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08760"/>
            <a:ext cx="2011680" cy="73152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Dashboard JS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updates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73736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73736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7132320" cy="169164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Events include agent registration, heartbeat, deletion, group updates and new logs.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The dashboard remains server-rendered HTML with static JS/CSS.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SocketIO handles live status while REST API handles CRUD and filtering.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Agent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Windows-native enforcement and desktop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4416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CustomTkinter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4592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Desktop GUI views and reusable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73152" cy="82296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134416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Scapy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164592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Packet capture and domain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8600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286000"/>
            <a:ext cx="73152" cy="82296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39572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dnspython / aiodns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69748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Parallel domain-to-IP resolution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28600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2286000"/>
            <a:ext cx="73152" cy="822960"/>
          </a:xfrm>
          <a:prstGeom prst="rect">
            <a:avLst/>
          </a:prstGeom>
          <a:solidFill>
            <a:srgbClr val="E28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8031" y="239572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E2801A"/>
                </a:solidFill>
                <a:latin typeface="Aptos"/>
              </a:rPr>
              <a:t>netsh + pywin32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269748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Windows Firewall policy and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3756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337560"/>
            <a:ext cx="73152" cy="822960"/>
          </a:xfrm>
          <a:prstGeom prst="rect">
            <a:avLst/>
          </a:prstGeom>
          <a:solidFill>
            <a:srgbClr val="68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44728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684C9B"/>
                </a:solidFill>
                <a:latin typeface="Aptos"/>
              </a:rPr>
              <a:t>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749039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Agent-to-Server REST communication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33756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3337560"/>
            <a:ext cx="73152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1" y="3447288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cryptography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1" y="3749039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Encrypted Agent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Agent Startup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Safe order matters before enabling firewall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0515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1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Load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221992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7672" y="1920240"/>
            <a:ext cx="10515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2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Register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21992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920240"/>
            <a:ext cx="10515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3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Store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221992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45736" y="1920240"/>
            <a:ext cx="10515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4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Sync whitelist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5583" y="2221992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920240"/>
            <a:ext cx="10515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5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Resolve server/DNS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4616" y="2221992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920240"/>
            <a:ext cx="10515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6</a:t>
            </a:r>
            <a:br/>
            <a:r>
              <a:rPr sz="950" b="1">
                <a:solidFill>
                  <a:srgbClr val="262626"/>
                </a:solidFill>
                <a:latin typeface="Aptos"/>
              </a:rPr>
              <a:t>Enable firewall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7315200" cy="109728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The Agent starts background workers only after registration and first whitelist sync.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Firewall enablement allows the Agent executable and Server/DNS before default deny.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Whitelist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Version-aware synchronization from Server to Agent firewall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234440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Teacher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4752" y="1783080"/>
            <a:ext cx="0" cy="301752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325880"/>
            <a:ext cx="1234440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10712" y="1783080"/>
            <a:ext cx="0" cy="301752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325880"/>
            <a:ext cx="1234440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76672" y="1783080"/>
            <a:ext cx="0" cy="301752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1325880"/>
            <a:ext cx="1234440" cy="41148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Firewall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42631" y="1783080"/>
            <a:ext cx="0" cy="301752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44752" y="2057400"/>
            <a:ext cx="196596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17904" y="1828800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262626"/>
                </a:solidFill>
                <a:latin typeface="Aptos"/>
              </a:rPr>
              <a:t>Update whitelist/profile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10712" y="2743200"/>
            <a:ext cx="196596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83864" y="2514600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262626"/>
                </a:solidFill>
                <a:latin typeface="Aptos"/>
              </a:rPr>
              <a:t>Heartbeat response: sync required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410712" y="3429000"/>
            <a:ext cx="196596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83864" y="3200400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262626"/>
                </a:solidFill>
                <a:latin typeface="Aptos"/>
              </a:rPr>
              <a:t>GET /api/whitelist/agent-sync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76672" y="4114800"/>
            <a:ext cx="1965959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49824" y="3886200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800" b="0">
                <a:solidFill>
                  <a:srgbClr val="262626"/>
                </a:solidFill>
                <a:latin typeface="Aptos"/>
              </a:rPr>
              <a:t>Apply allow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Firewall Enforcement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Default deny at OS level, allow rules generated from whitelist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508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Outbound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737360" cy="685800"/>
          </a:xfrm>
          <a:prstGeom prst="roundRect">
            <a:avLst/>
          </a:prstGeom>
          <a:solidFill>
            <a:srgbClr val="FFF5F6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Windows Firewall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Default Deny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1600200" cy="5943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IP allowed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560320"/>
            <a:ext cx="1600200" cy="594360"/>
          </a:xfrm>
          <a:prstGeom prst="roundRect">
            <a:avLst/>
          </a:prstGeom>
          <a:solidFill>
            <a:srgbClr val="FFF5F6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IP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234440"/>
            <a:ext cx="1097280" cy="5943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560320"/>
            <a:ext cx="1097280" cy="594360"/>
          </a:xfrm>
          <a:prstGeom prst="roundRect">
            <a:avLst/>
          </a:prstGeom>
          <a:solidFill>
            <a:srgbClr val="FFF5F6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Drop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167128"/>
            <a:ext cx="59436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480560" y="1554480"/>
            <a:ext cx="594360" cy="50292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80560" y="2331720"/>
            <a:ext cx="594360" cy="54864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75120" y="1527048"/>
            <a:ext cx="54864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75120" y="2852928"/>
            <a:ext cx="54864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069080"/>
            <a:ext cx="7315200" cy="96012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62626"/>
                </a:solidFill>
                <a:latin typeface="Aptos"/>
              </a:rPr>
              <a:t>• Rules are created with a prefix, enabling cleanup without touching unrelated firewall rules.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62626"/>
                </a:solidFill>
                <a:latin typeface="Aptos"/>
              </a:rPr>
              <a:t>• The Agent can snapshot/restore policies to reduce operational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Packet Monitoring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Detective control complements firewall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556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262626"/>
                </a:solidFill>
                <a:latin typeface="Aptos"/>
              </a:rPr>
              <a:t>Scapy packet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4028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965960"/>
            <a:ext cx="111556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262626"/>
                </a:solidFill>
                <a:latin typeface="Aptos"/>
              </a:rPr>
              <a:t>DNS / HTTP / TLS SNI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8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65960"/>
            <a:ext cx="111556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262626"/>
                </a:solidFill>
                <a:latin typeface="Aptos"/>
              </a:rPr>
              <a:t>Whitelist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965960"/>
            <a:ext cx="111556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262626"/>
                </a:solidFill>
                <a:latin typeface="Aptos"/>
              </a:rPr>
              <a:t>Classify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4028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65960"/>
            <a:ext cx="111556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262626"/>
                </a:solidFill>
                <a:latin typeface="Aptos"/>
              </a:rPr>
              <a:t>Batch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240280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965960"/>
            <a:ext cx="111556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262626"/>
                </a:solidFill>
                <a:latin typeface="Aptos"/>
              </a:rPr>
              <a:t>POST /api/logs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977639"/>
            <a:ext cx="1417320" cy="50292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ALLOWED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977639"/>
            <a:ext cx="1600200" cy="502920"/>
          </a:xfrm>
          <a:prstGeom prst="roundRect">
            <a:avLst/>
          </a:prstGeom>
          <a:solidFill>
            <a:srgbClr val="FFFAEE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ALLOWED_BY_IP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977639"/>
            <a:ext cx="1417320" cy="502920"/>
          </a:xfrm>
          <a:prstGeom prst="roundRect">
            <a:avLst/>
          </a:prstGeom>
          <a:solidFill>
            <a:srgbClr val="FFF5F6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BLOCKED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977639"/>
            <a:ext cx="1417320" cy="502920"/>
          </a:xfrm>
          <a:prstGeom prst="roundRect">
            <a:avLst/>
          </a:prstGeom>
          <a:solidFill>
            <a:srgbClr val="F8F5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OBSERVED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Authentication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Separate flows for Agent and Web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23444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27048"/>
            <a:ext cx="3218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Agent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28800"/>
            <a:ext cx="3218687" cy="7589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API Key for registration, then JWT access/refresh tokens for heartbeat, whitelist sync and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73152" cy="123444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1527048"/>
            <a:ext cx="3218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Web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1828800"/>
            <a:ext cx="3218687" cy="7589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Admin/Teacher login uses bcrypt password verification and httpOnly token cookies.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767328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365760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JWT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65760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bcrypt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67328"/>
            <a:ext cx="320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800" b="1">
                <a:solidFill>
                  <a:srgbClr val="C4123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65760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Cookie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RBAC and Teacher Data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Two roles with ownership-aware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1143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435607"/>
            <a:ext cx="317296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37360"/>
            <a:ext cx="3172968" cy="6675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Full system access: users, agents, groups, API keys, logs export/delete and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325880"/>
            <a:ext cx="73152" cy="114300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1435607"/>
            <a:ext cx="317296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737360"/>
            <a:ext cx="3172968" cy="66751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Scoped access to assigned groups, agents, whitelist profiles and related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7223760" cy="150876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`RBACService` builds query filters for groups, agents, logs and whitelist.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`inject_current_user` passes current user context into web-facing controllers.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Teacher cannot manage API keys, users, audit logs or unrelated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Security and Operational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Important because the Agent can affect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00584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27048"/>
            <a:ext cx="3218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Default-deny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28800"/>
            <a:ext cx="321868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Wrong whitelist/server resolution can disrupt connectivity.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73152" cy="100584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1527048"/>
            <a:ext cx="3218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1828800"/>
            <a:ext cx="321868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Self-allow rules, server URL allow, snapshot/restore and rule-prefix cleanup.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432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73152" cy="100584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2852928"/>
            <a:ext cx="3218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Config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154680"/>
            <a:ext cx="321868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Agent config encryption reduces exposure of sensitive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7432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2743200"/>
            <a:ext cx="73152" cy="1005840"/>
          </a:xfrm>
          <a:prstGeom prst="rect">
            <a:avLst/>
          </a:prstGeom>
          <a:solidFill>
            <a:srgbClr val="68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8031" y="2852928"/>
            <a:ext cx="3218687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684C9B"/>
                </a:solidFill>
                <a:latin typeface="Aptos"/>
              </a:rPr>
              <a:t>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3154680"/>
            <a:ext cx="321868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Server audit logs and session/token revocation support accountability.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Testing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Server-side tests found in the current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registration, heartbeat, detail/status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32588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59" y="1325880"/>
            <a:ext cx="73152" cy="82296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1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Whitelist and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1" y="173736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sync, CRUD, receive/list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04872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404872"/>
            <a:ext cx="73152" cy="82296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514600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Users and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816352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login, user CRUD, password 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2404872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9159" y="2404872"/>
            <a:ext cx="73152" cy="822960"/>
          </a:xfrm>
          <a:prstGeom prst="rect">
            <a:avLst/>
          </a:prstGeom>
          <a:solidFill>
            <a:srgbClr val="68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1" y="2514600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684C9B"/>
                </a:solidFill>
                <a:latin typeface="Aptos"/>
              </a:rPr>
              <a:t>Teacher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1" y="2816352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RBAC ownership boundaries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83863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483863"/>
            <a:ext cx="73152" cy="822960"/>
          </a:xfrm>
          <a:prstGeom prst="rect">
            <a:avLst/>
          </a:prstGeom>
          <a:solidFill>
            <a:srgbClr val="E28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593591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E2801A"/>
                </a:solidFill>
                <a:latin typeface="Aptos"/>
              </a:rPr>
              <a:t>Groups and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895344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group CRUD/assignment and audit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Deployment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How the source is packaged for real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011680" cy="68580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225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Server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Dockerfile / 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54480"/>
            <a:ext cx="1828800" cy="68580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21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MongoDB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Atlas / configured URI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1965960" cy="685800"/>
          </a:xfrm>
          <a:prstGeom prst="roundRect">
            <a:avLst/>
          </a:prstGeom>
          <a:solidFill>
            <a:srgbClr val="FFFAEE"/>
          </a:solidFill>
          <a:ln w="15240">
            <a:solidFill>
              <a:srgbClr val="E28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Aptos"/>
              </a:rPr>
              <a:t>Agent</a:t>
            </a:r>
            <a:br/>
            <a:r>
              <a:rPr sz="1000" b="1">
                <a:solidFill>
                  <a:srgbClr val="262626"/>
                </a:solidFill>
                <a:latin typeface="Aptos"/>
              </a:rPr>
              <a:t>PyInstaller spec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1874519"/>
            <a:ext cx="73152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94960" y="1874519"/>
            <a:ext cx="731520" cy="0"/>
          </a:xfrm>
          <a:prstGeom prst="line">
            <a:avLst/>
          </a:prstGeom>
          <a:ln w="17780">
            <a:solidFill>
              <a:srgbClr val="C41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971800"/>
            <a:ext cx="7315200" cy="146304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Server deployment is container-friendly.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Agent deployment targets Windows workstations and requires Administrator privileges for enforcement.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Production setup must provide secrets through environment variables, not source-controlled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Achieved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Source-level outcomes visible in the current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143000" cy="77724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95728"/>
            <a:ext cx="150876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API method/path entries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508760"/>
            <a:ext cx="1143000" cy="77724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95728"/>
            <a:ext cx="150876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MongoDB collections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508760"/>
            <a:ext cx="1143000" cy="77724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95728"/>
            <a:ext cx="150876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RBAC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508760"/>
            <a:ext cx="1143000" cy="77724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95728"/>
            <a:ext cx="150876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Agent GUI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508760"/>
            <a:ext cx="1143000" cy="777240"/>
          </a:xfrm>
          <a:prstGeom prst="roundRect">
            <a:avLst/>
          </a:prstGeom>
          <a:solidFill>
            <a:srgbClr val="C41230"/>
          </a:solidFill>
          <a:ln w="1524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395728"/>
            <a:ext cx="150876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950" b="1">
                <a:solidFill>
                  <a:srgbClr val="262626"/>
                </a:solidFill>
                <a:latin typeface="Aptos"/>
              </a:rPr>
              <a:t>Server test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7223760" cy="91440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The system implements centralized management with distributed Windows enforcement.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Aptos"/>
              </a:rPr>
              <a:t>• Source report was generated directly from current code, not legacy docs.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Known boundaries of the current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7132320" cy="2377440"/>
          </a:xfrm>
          <a:prstGeom prst="rect">
            <a:avLst/>
          </a:prstGeom>
          <a:noFill/>
        </p:spPr>
        <p:txBody>
          <a:bodyPr wrap="square" tIns="18288" rIns="45720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262626"/>
                </a:solidFill>
                <a:latin typeface="Aptos"/>
              </a:rPr>
              <a:t>• Agent enforcement is Windows-oriented because it depends on Windows Firewall and </a:t>
            </a:r>
            <a:r>
              <a:rPr sz="1500" dirty="0" err="1">
                <a:solidFill>
                  <a:srgbClr val="262626"/>
                </a:solidFill>
                <a:latin typeface="Aptos"/>
              </a:rPr>
              <a:t>netsh</a:t>
            </a:r>
            <a:r>
              <a:rPr sz="1500" dirty="0">
                <a:solidFill>
                  <a:srgbClr val="262626"/>
                </a:solidFill>
                <a:latin typeface="Aptos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62626"/>
                </a:solidFill>
                <a:latin typeface="Aptos"/>
              </a:rPr>
              <a:t>• Layer 7 monitoring observes domains but does not decrypt HTTPS content.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62626"/>
                </a:solidFill>
                <a:latin typeface="Aptos"/>
              </a:rPr>
              <a:t>• Shared CDN IPs can produce ALLOWED_BY_IP warnings that require policy review.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62626"/>
                </a:solidFill>
                <a:latin typeface="Aptos"/>
              </a:rPr>
              <a:t>• Web UI is server-rendered templates rather than a modern SPA.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62626"/>
                </a:solidFill>
                <a:latin typeface="Aptos"/>
              </a:rPr>
              <a:t>• Runtime screenshots are not included because the Agent can alter network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502920"/>
            <a:ext cx="7498079" cy="41148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2600" b="1">
                <a:solidFill>
                  <a:srgbClr val="960018"/>
                </a:solidFill>
                <a:latin typeface="Aptos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5895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00" b="0">
                <a:solidFill>
                  <a:srgbClr val="5F5F5F"/>
                </a:solidFill>
                <a:latin typeface="Aptos"/>
              </a:rPr>
              <a:t>Next steps after the current thesis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12064"/>
            <a:ext cx="777240" cy="256032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822960"/>
          </a:xfrm>
          <a:prstGeom prst="rect">
            <a:avLst/>
          </a:prstGeom>
          <a:solidFill>
            <a:srgbClr val="2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2548E"/>
                </a:solidFill>
                <a:latin typeface="Aptos"/>
              </a:rPr>
              <a:t>Cross-platform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Linux/macOS enforcement using platform firewall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325880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59" y="1325880"/>
            <a:ext cx="73152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1" y="1435607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C41230"/>
                </a:solidFill>
                <a:latin typeface="Aptos"/>
              </a:rPr>
              <a:t>Modern web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1" y="1737360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React/Vue SPA for richer dashboards and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86584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386584"/>
            <a:ext cx="73152" cy="822960"/>
          </a:xfrm>
          <a:prstGeom prst="rect">
            <a:avLst/>
          </a:prstGeom>
          <a:solidFill>
            <a:srgbClr val="21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496312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218B56"/>
                </a:solidFill>
                <a:latin typeface="Aptos"/>
              </a:rPr>
              <a:t>Policy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98064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ML-assisted anomaly detection and domain reputation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2386584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9159" y="2386584"/>
            <a:ext cx="73152" cy="822960"/>
          </a:xfrm>
          <a:prstGeom prst="rect">
            <a:avLst/>
          </a:prstGeom>
          <a:solidFill>
            <a:srgbClr val="E28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1" y="2496312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E2801A"/>
                </a:solidFill>
                <a:latin typeface="Aptos"/>
              </a:rPr>
              <a:t>Mobile teacher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1" y="2798064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Fast profile activation and lab status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47287"/>
            <a:ext cx="3611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447287"/>
            <a:ext cx="73152" cy="822960"/>
          </a:xfrm>
          <a:prstGeom prst="rect">
            <a:avLst/>
          </a:prstGeom>
          <a:solidFill>
            <a:srgbClr val="68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557015"/>
            <a:ext cx="3355848" cy="25603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200" b="1">
                <a:solidFill>
                  <a:srgbClr val="684C9B"/>
                </a:solidFill>
                <a:latin typeface="Aptos"/>
              </a:rPr>
              <a:t>CI/CD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858768"/>
            <a:ext cx="3355848" cy="347472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r>
              <a:rPr sz="1050" b="0">
                <a:solidFill>
                  <a:srgbClr val="262626"/>
                </a:solidFill>
                <a:latin typeface="Aptos"/>
              </a:rPr>
              <a:t>Automated deployment, health checks and release packaging.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468880"/>
            <a:ext cx="74066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SAINT - Security Agent Integrated Network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6446520"/>
            <a:ext cx="685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norm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1732</Words>
  <Application>Microsoft Office PowerPoint</Application>
  <PresentationFormat>On-screen Show (4:3)</PresentationFormat>
  <Paragraphs>393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Bui Xuan Son 20225586</cp:lastModifiedBy>
  <cp:revision>2</cp:revision>
  <dcterms:created xsi:type="dcterms:W3CDTF">2013-01-27T09:14:16Z</dcterms:created>
  <dcterms:modified xsi:type="dcterms:W3CDTF">2026-05-25T06:18:26Z</dcterms:modified>
  <cp:category/>
</cp:coreProperties>
</file>